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5143500" cy="9144000"/>
  <p:embeddedFontLst>
    <p:embeddedFont>
      <p:font typeface="Playfair Display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FG634N5qOwfJilibYG5lUE0Xp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7F1714-01B1-43FE-B948-AD8D8905699E}">
  <a:tblStyle styleId="{C97F1714-01B1-43FE-B948-AD8D8905699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C908ADF-780E-46E1-9C87-43F027F8741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5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layfairDisplay-italic.fntdata"/><Relationship Id="rId14" Type="http://schemas.openxmlformats.org/officeDocument/2006/relationships/slide" Target="slides/slide9.xml"/><Relationship Id="rId36" Type="http://schemas.openxmlformats.org/officeDocument/2006/relationships/font" Target="fonts/PlayfairDisplay-bold.fntdata"/><Relationship Id="rId17" Type="http://schemas.openxmlformats.org/officeDocument/2006/relationships/slide" Target="slides/slide12.xml"/><Relationship Id="rId39" Type="http://schemas.openxmlformats.org/officeDocument/2006/relationships/font" Target="fonts/DMSans-regular.fntdata"/><Relationship Id="rId16" Type="http://schemas.openxmlformats.org/officeDocument/2006/relationships/slide" Target="slides/slide11.xml"/><Relationship Id="rId38" Type="http://schemas.openxmlformats.org/officeDocument/2006/relationships/font" Target="fonts/PlayfairDisplay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ee7a31403_0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ee7a31403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583680" y="-548640"/>
            <a:ext cx="3474720" cy="3474720"/>
          </a:xfrm>
          <a:prstGeom prst="ellipse">
            <a:avLst/>
          </a:prstGeom>
          <a:solidFill>
            <a:srgbClr val="C44569">
              <a:alpha val="10196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7315200" y="2743200"/>
            <a:ext cx="2194560" cy="2194560"/>
          </a:xfrm>
          <a:prstGeom prst="ellipse">
            <a:avLst/>
          </a:prstGeom>
          <a:solidFill>
            <a:srgbClr val="ED93B1">
              <a:alpha val="9019"/>
            </a:srgbClr>
          </a:solidFill>
          <a:ln cap="flat" cmpd="sng" w="12700">
            <a:solidFill>
              <a:srgbClr val="ED9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57200" y="685800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LET'S DATE AGAIN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93B1"/>
              </a:buClr>
              <a:buSzPts val="2600"/>
              <a:buFont typeface="Georgia"/>
              <a:buNone/>
            </a:pPr>
            <a:r>
              <a:rPr b="0" i="1" lang="en-US" sz="2600" u="none" cap="none" strike="noStrike">
                <a:solidFill>
                  <a:srgbClr val="ED93B1"/>
                </a:solidFill>
                <a:latin typeface="Georgia"/>
                <a:ea typeface="Georgia"/>
                <a:cs typeface="Georgia"/>
                <a:sym typeface="Georgia"/>
              </a:rPr>
              <a:t>MVP Screen Flow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901952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Complete UI reference for the design team — screen by screen, step by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457200" y="2359152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457200" y="254203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07238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121408" y="254203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121408" y="307238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Day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785616" y="254203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785616" y="307238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49824" y="254203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49824" y="307238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Intro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Solo user MVP  ·  No login  ·  5-day streak  ·  Version 1.0  ·  Prerna, Founder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COMPLETE SCREEN FLOW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49377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i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21 screens · step-by-step user journey from first open to Day 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56032" y="914400"/>
            <a:ext cx="804672" cy="640080"/>
          </a:xfrm>
          <a:prstGeom prst="rect">
            <a:avLst/>
          </a:prstGeom>
          <a:solidFill>
            <a:srgbClr val="1A1A2E">
              <a:alpha val="87843"/>
            </a:srgbClr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256032" y="914400"/>
            <a:ext cx="804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70432" y="91440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170432" y="914400"/>
            <a:ext cx="1828800" cy="109728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170432" y="91440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I-1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70432" y="107899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Splash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017520" y="113385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182112" y="91440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182112" y="914400"/>
            <a:ext cx="1828800" cy="109728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182112" y="91440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I-2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182112" y="107899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Commitment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29200" y="113385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193792" y="91440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193792" y="914400"/>
            <a:ext cx="1828800" cy="109728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193792" y="91440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I-3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193792" y="107899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Name Only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56032" y="1874520"/>
            <a:ext cx="804672" cy="640080"/>
          </a:xfrm>
          <a:prstGeom prst="rect">
            <a:avLst/>
          </a:prstGeom>
          <a:solidFill>
            <a:srgbClr val="C44569">
              <a:alpha val="87843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56032" y="1874520"/>
            <a:ext cx="804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70432" y="187452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170432" y="1874520"/>
            <a:ext cx="1828800" cy="10972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170432" y="187452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D1-1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170432" y="203911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Slider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017520" y="209397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182112" y="187452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182112" y="1874520"/>
            <a:ext cx="1828800" cy="10972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182112" y="187452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D1-2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182112" y="203911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Honest Moment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029200" y="209397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193792" y="187452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193792" y="1874520"/>
            <a:ext cx="1828800" cy="10972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193792" y="187452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D1-3–9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193792" y="203911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Spark Quiz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040880" y="209397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205472" y="187452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205472" y="1874520"/>
            <a:ext cx="1828800" cy="10972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205472" y="187452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D1-11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205472" y="203911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Type Result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56032" y="2834640"/>
            <a:ext cx="804672" cy="640080"/>
          </a:xfrm>
          <a:prstGeom prst="rect">
            <a:avLst/>
          </a:prstGeom>
          <a:solidFill>
            <a:srgbClr val="8A7E78">
              <a:alpha val="87843"/>
            </a:srgbClr>
          </a:solidFill>
          <a:ln cap="flat" cmpd="sng" w="12700">
            <a:solidFill>
              <a:srgbClr val="8A7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256032" y="2834640"/>
            <a:ext cx="804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170432" y="283464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1170432" y="2834640"/>
            <a:ext cx="1828800" cy="109728"/>
          </a:xfrm>
          <a:prstGeom prst="rect">
            <a:avLst/>
          </a:prstGeom>
          <a:solidFill>
            <a:srgbClr val="8A7E78"/>
          </a:solidFill>
          <a:ln cap="flat" cmpd="sng" w="12700">
            <a:solidFill>
              <a:srgbClr val="8A7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1170432" y="283464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B1-2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170432" y="299923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Bridge D1→D2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3017520" y="305409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3182112" y="283464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3182112" y="2834640"/>
            <a:ext cx="1828800" cy="109728"/>
          </a:xfrm>
          <a:prstGeom prst="rect">
            <a:avLst/>
          </a:prstGeom>
          <a:solidFill>
            <a:srgbClr val="8A7E78"/>
          </a:solidFill>
          <a:ln cap="flat" cmpd="sng" w="12700">
            <a:solidFill>
              <a:srgbClr val="8A7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3182112" y="283464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B2-3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182112" y="299923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Bridge D2→D3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029200" y="305409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193792" y="283464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5193792" y="2834640"/>
            <a:ext cx="1828800" cy="109728"/>
          </a:xfrm>
          <a:prstGeom prst="rect">
            <a:avLst/>
          </a:prstGeom>
          <a:solidFill>
            <a:srgbClr val="8A7E78"/>
          </a:solidFill>
          <a:ln cap="flat" cmpd="sng" w="12700">
            <a:solidFill>
              <a:srgbClr val="8A7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5193792" y="283464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B3-4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5193792" y="299923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Bridge D3→D4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7040880" y="305409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7205472" y="283464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7205472" y="2834640"/>
            <a:ext cx="1828800" cy="109728"/>
          </a:xfrm>
          <a:prstGeom prst="rect">
            <a:avLst/>
          </a:prstGeom>
          <a:solidFill>
            <a:srgbClr val="8A7E78"/>
          </a:solidFill>
          <a:ln cap="flat" cmpd="sng" w="12700">
            <a:solidFill>
              <a:srgbClr val="8A7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7205472" y="283464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B4-5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7205472" y="299923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Bridge D4→D5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256032" y="3794760"/>
            <a:ext cx="804672" cy="640080"/>
          </a:xfrm>
          <a:prstGeom prst="rect">
            <a:avLst/>
          </a:prstGeom>
          <a:solidFill>
            <a:srgbClr val="1D9E75">
              <a:alpha val="87843"/>
            </a:srgbClr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256032" y="3794760"/>
            <a:ext cx="804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2–5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170432" y="379476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170432" y="3794760"/>
            <a:ext cx="1828800" cy="10972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1170432" y="379476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D2-1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170432" y="395935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Mood Candle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3017520" y="401421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182112" y="379476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3182112" y="3794760"/>
            <a:ext cx="1828800" cy="10972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3182112" y="379476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D3-1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182112" y="395935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Snapshot Card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029200" y="401421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193792" y="379476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193792" y="3794760"/>
            <a:ext cx="1828800" cy="10972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5193792" y="379476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D4-1/2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193792" y="395935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Drop Box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040880" y="401421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7205472" y="379476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7205472" y="3794760"/>
            <a:ext cx="1828800" cy="10972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7205472" y="3794760"/>
            <a:ext cx="1828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D5-1/2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205472" y="395935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+ Invite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256032" y="484632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Each screen is detailed on the following slides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DESIGN SYSTEM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57200" y="49377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i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Colour palette · Typography · Spacing — apply consistently to all 21 screens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57200" y="987552"/>
            <a:ext cx="1353312" cy="384048"/>
          </a:xfrm>
          <a:prstGeom prst="rect">
            <a:avLst/>
          </a:prstGeom>
          <a:solidFill>
            <a:srgbClr val="C44569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57200" y="138988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#C44569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57200" y="1545336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Rose — CTAs, streaks, accents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938528" y="987552"/>
            <a:ext cx="1353312" cy="384048"/>
          </a:xfrm>
          <a:prstGeom prst="rect">
            <a:avLst/>
          </a:prstGeom>
          <a:solidFill>
            <a:srgbClr val="1A1A2E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1938528" y="138988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#1A1A2E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938528" y="1545336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Ink — Dark screen bg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419856" y="987552"/>
            <a:ext cx="1353312" cy="384048"/>
          </a:xfrm>
          <a:prstGeom prst="rect">
            <a:avLst/>
          </a:prstGeom>
          <a:solidFill>
            <a:srgbClr val="0E0E1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3419856" y="138988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#0E0E1F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419856" y="1545336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Deep Dark — Immersive screens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901184" y="987552"/>
            <a:ext cx="1353312" cy="384048"/>
          </a:xfrm>
          <a:prstGeom prst="rect">
            <a:avLst/>
          </a:prstGeom>
          <a:solidFill>
            <a:srgbClr val="FDF8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901184" y="138988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#FDF8F5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901184" y="1545336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Cream — App background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382512" y="987552"/>
            <a:ext cx="1353312" cy="384048"/>
          </a:xfrm>
          <a:prstGeom prst="rect">
            <a:avLst/>
          </a:prstGeom>
          <a:solidFill>
            <a:srgbClr val="F4F0EC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382512" y="138988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#F4F0EC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382512" y="1545336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Chalk — Input fields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7863840" y="987552"/>
            <a:ext cx="1353312" cy="384048"/>
          </a:xfrm>
          <a:prstGeom prst="rect">
            <a:avLst/>
          </a:prstGeom>
          <a:solidFill>
            <a:srgbClr val="8A7E78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7863840" y="138988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#8A7E78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863840" y="1545336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Stone — Secondary text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57200" y="1792224"/>
            <a:ext cx="1353312" cy="384048"/>
          </a:xfrm>
          <a:prstGeom prst="rect">
            <a:avLst/>
          </a:prstGeom>
          <a:solidFill>
            <a:srgbClr val="FBEAF0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457200" y="219456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#FBEAF0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57200" y="2350008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Rose Light — Card fills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1938528" y="1792224"/>
            <a:ext cx="1353312" cy="384048"/>
          </a:xfrm>
          <a:prstGeom prst="rect">
            <a:avLst/>
          </a:prstGeom>
          <a:solidFill>
            <a:srgbClr val="ED93B1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1938528" y="219456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#ED93B1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1938528" y="2350008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Rose Mid — Labels on dark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419856" y="1792224"/>
            <a:ext cx="1353312" cy="384048"/>
          </a:xfrm>
          <a:prstGeom prst="rect">
            <a:avLst/>
          </a:prstGeom>
          <a:solidFill>
            <a:srgbClr val="1D9E7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419856" y="219456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#1D9E75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419856" y="2350008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Teal — Connected mood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4901184" y="1792224"/>
            <a:ext cx="1353312" cy="384048"/>
          </a:xfrm>
          <a:prstGeom prst="rect">
            <a:avLst/>
          </a:prstGeom>
          <a:solidFill>
            <a:srgbClr val="BA7517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4901184" y="219456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#BA7517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4901184" y="2350008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Amber — Grateful mood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382512" y="1792224"/>
            <a:ext cx="1353312" cy="384048"/>
          </a:xfrm>
          <a:prstGeom prst="rect">
            <a:avLst/>
          </a:prstGeom>
          <a:solidFill>
            <a:srgbClr val="534AB7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6382512" y="219456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#534AB7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382512" y="2350008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Purple — Deep Current type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7863840" y="1792224"/>
            <a:ext cx="135331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7863840" y="219456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#FFFFFF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7863840" y="2350008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White — Text on dark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457200" y="2926080"/>
            <a:ext cx="8412480" cy="2029968"/>
          </a:xfrm>
          <a:prstGeom prst="rect">
            <a:avLst/>
          </a:prstGeom>
          <a:solidFill>
            <a:srgbClr val="F8F7F5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658368" y="299923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TYPOGRAPHY + SPACING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658368" y="327355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Playfair Display"/>
              <a:buNone/>
            </a:pPr>
            <a:r>
              <a:rPr b="1" lang="en-US" sz="1400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Playfair Display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2834640" y="329184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Display / Headings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663440" y="32918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Wt 600 upright · 400–500 italic · Questions, type names, quotes, result screens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658368" y="38404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DM Sans"/>
              <a:buNone/>
            </a:pPr>
            <a:r>
              <a:rPr b="1" lang="en-US" sz="140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DM Sans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2834640" y="38587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Body / UI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663440" y="385876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Wt 400 regular · 500 medium ONLY · Labels, body, buttons, captions. Never 600+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658368" y="44439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Design at 390px width  ·  16px screen padding  ·  4px base unit  ·  Cards: 14px radius  ·  Buttons: 100px pill  ·  Inputs: 10px radius  ·  No gradients  ·  No drop shadows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1A1A2E">
              <a:alpha val="85098"/>
            </a:srgbClr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I-1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Splash Screen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First thing the user sees. One sentence. One button. Zero friction. Product speaks before brand.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4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Inclusions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Logo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DYK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Quotes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CTA- Begin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225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87" y="65433"/>
            <a:ext cx="2102528" cy="485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1A1A2E">
              <a:alpha val="85098"/>
            </a:srgbClr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I-2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Commitment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Pre-commitment creates accountability. Users who explicitly commit have higher Day 7 return rates.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1"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Signals a private, serious moment.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Headline: 'This app works if you actually show up.’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Three warning lines below divider — Emotional framing, not legal text.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Commitment card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44569"/>
              </a:buClr>
              <a:buSzPts val="1050"/>
              <a:buFont typeface="Calibri"/>
              <a:buChar char="•"/>
            </a:pPr>
            <a:r>
              <a:rPr b="1" lang="en-US" sz="105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Checkbox MUST animate — ticks from unchecked to checked on screen load over 300ms. Never statically pre-ticked. This animation is intentional behaviour design.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CTA: 'I'm ready →' — rose pill. Arrow signals forward motion, not just confirmation.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1" y="91237"/>
            <a:ext cx="1984586" cy="4967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1A1A2E">
              <a:alpha val="85098"/>
            </a:srgbClr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I-3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Name Only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The only personal data ever collected. One field, first name only. No email, no password, no account.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6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6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1"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Background: Light, warm, open.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Rose-light pill tag: 'One last thing’ —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Headline: 'What should we call you?' — no visible border. Placeholder: 'Your name here…'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Privacy card: rose-light fill. Text: 'We don't create accounts. Your name stays on your device only.'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1"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CTA disabled (50% opacity) until user types 2+ characters. Label: 'That's me → Start Day 1'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 progress dots bottom-centre. Third (active) = rose, first two = stone.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Keyboard auto-opens on arrival. Input field auto-focused.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Tap → enter Day 1 flow (no transition — direct load of D1-1).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372" y="54586"/>
            <a:ext cx="2248587" cy="5034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D1-1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Connection Slider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Establishes the emotional baseline. Stored as baseline_connection_score — resurfaces Day 3 and Day 5.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7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7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1"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Background: #0E0E1F. No nav bar. No back button. Full focus.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5-day progress strip at top: Day 1 pip rose-mid, Days 2–5 at 75% transparency.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Slider defaults to 5 (not 1). Anchoring at midpoint means users move intentionally.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Large number: Playfair/Georgia 56px, rose #C44569. Updates live as user drags.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Track: 6px height. Rose fill to thumb. 15% white opacity right of thumb. Thumb: 24px rose circle, 2.5px white border. 44×44px tap target.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Haptic: UIImpactFeedbackGenerator light (iOS) / HapticFeedbackManager KEYBOARD_TAP (Android) on each integer.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1"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CTA label: 'That's my number' — NOT 'Next'. The wording signals the number matters.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Tap → 0.4s fade → D1-2. The number visually animates from this screen into the large display on D1-2.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STORE: baseline_connection_score + timestamp in local storage.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17" y="125036"/>
            <a:ext cx="2024782" cy="4794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D1-2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Honest Moment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Makes the user feel seen in 60 seconds. Response copy changes based on their exact score. Pre-written — not AI.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8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30" name="Google Shape;230;p8"/>
          <p:cNvGraphicFramePr/>
          <p:nvPr/>
        </p:nvGraphicFramePr>
        <p:xfrm>
          <a:off x="2999232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{C97F1714-01B1-43FE-B948-AD8D8905699E}</a:tableStyleId>
              </a:tblPr>
              <a:tblGrid>
                <a:gridCol w="658375"/>
                <a:gridCol w="526695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 copy shown on screen (exact wording)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1–3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"Most people wouldn't admit this. You just did. That takes courage — and it's exactly why you're here. Let's start from honest."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4–5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"Most people open this app at a 5. You opened it at [N]. That's honest. Let's work with that."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6–7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"Most people open this app at a 5. You opened it at [N]. You're doing better than you think — and we'll make sure it stays that way."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8–9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"[N] out of 10. You're here because you want to protect something good. That's the smartest thing a couple can do. Let's keep it that way."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"10. Either things are genuinely perfect — or you're being very kind to yourself. Either way, we'll find out. Let's begin."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8"/>
          <p:cNvSpPr/>
          <p:nvPr/>
        </p:nvSpPr>
        <p:spPr>
          <a:xfrm>
            <a:off x="2999232" y="4187952"/>
            <a:ext cx="5925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Screen is intentionally 4–6 seconds long. Do not rush entry animation. The pause is the experience.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6" y="175222"/>
            <a:ext cx="1962912" cy="47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D1-3 TO D1-9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Spark Quiz — 7 Questions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7 rapid-fire binary questions. Swipe or tap. Auto-advances 120ms after selection — no confirm button.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9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44" name="Google Shape;244;p9"/>
          <p:cNvGraphicFramePr/>
          <p:nvPr/>
        </p:nvGraphicFramePr>
        <p:xfrm>
          <a:off x="2999232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{C97F1714-01B1-43FE-B948-AD8D8905699E}</a:tableStyleId>
              </a:tblPr>
              <a:tblGrid>
                <a:gridCol w="457200"/>
                <a:gridCol w="1463050"/>
                <a:gridCol w="400507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Mood badge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— Option A vs Option B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Warmth · Day-to-day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You'd rather your partner surprise you with: A heartfelt letter at 2am | B spontaneous trip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Honest · Conflict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Arguments start because of: A small things piling up | B one specific thing every time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Spicy · Attachment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Partner comes home: A come find you first | B decompress then come find you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 · Values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Relationship needs most: A more uninterrupted time | B better deeper conversations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Spicy · Self-aware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 tries harder: A me, I carry more emotional weight | B we're pretty even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Warm · Vision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5 years: A still laughing at same stupid things | B built something we're both proud of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decider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things get hard: A talk it out even if messy | B give it space, things get clearer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9"/>
          <p:cNvSpPr/>
          <p:nvPr/>
        </p:nvSpPr>
        <p:spPr>
          <a:xfrm>
            <a:off x="2999232" y="4279392"/>
            <a:ext cx="5925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Q7 is the tie-breaker (weighted +3). Store all 7 individual answers — not just the type result. Answers power prompt personalisation from Day 2.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788" y="156971"/>
            <a:ext cx="2022517" cy="488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D1-11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Personality Type Result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The shareable Day 1 result. 4 possible types — feels like a horoscope the user actually believes.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0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58" name="Google Shape;258;p10"/>
          <p:cNvGraphicFramePr/>
          <p:nvPr/>
        </p:nvGraphicFramePr>
        <p:xfrm>
          <a:off x="2999232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{C97F1714-01B1-43FE-B948-AD8D8905699E}</a:tableStyleId>
              </a:tblPr>
              <a:tblGrid>
                <a:gridCol w="1645925"/>
                <a:gridCol w="1645925"/>
                <a:gridCol w="263347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Sub-label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Growth edge shown at bottom of card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Steady Flame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Consistent · Deeply felt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 assume they know. They might not. Say it out loud more.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751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BA75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Electric Spark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Spontaneous · High energy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spark needs to land somewhere safe. Make sure they feel secure, not just excited.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34AB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534A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Deep Current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Thoughtful · The still water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 depth can feel like distance. Let them in before you've figured it all out.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Shifting Tide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· Truth-teller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Honesty without tenderness is just criticism. The how matters as much as the what.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10"/>
          <p:cNvSpPr/>
          <p:nvPr/>
        </p:nvSpPr>
        <p:spPr>
          <a:xfrm>
            <a:off x="2999232" y="4005072"/>
            <a:ext cx="5925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Hook line: 'Would your partner say the same about themselves?' — Playfair italic rose-mid. Last thing user reads. Plants the invite hook. Result card exported as 1080×1080px shareable image.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32" y="77469"/>
            <a:ext cx="1805941" cy="499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888888">
              <a:alpha val="85098"/>
            </a:srgbClr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 SCREENS D2-1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Bridge Screen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Appears every day from Day 2 onward. Same 4-zone template — different content each day.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1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72" name="Google Shape;272;p11"/>
          <p:cNvGraphicFramePr/>
          <p:nvPr/>
        </p:nvGraphicFramePr>
        <p:xfrm>
          <a:off x="2999232" y="34930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{C97F1714-01B1-43FE-B948-AD8D8905699E}</a:tableStyleId>
              </a:tblPr>
              <a:tblGrid>
                <a:gridCol w="822950"/>
                <a:gridCol w="510235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Transition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Bridge quote (exact — original to LDA)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D1→D2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"The best relationships aren't built in grand moments — they're built in the ones you keep showing up for."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D2→D3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"Noticing what's good is not the same as ignoring what's hard. It's choosing where to look first."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D3→D4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"The things left unsaid don't disappear. They just find other ways to come out."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D4→D5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 relationship that can hold honesty can hold anything."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11"/>
          <p:cNvSpPr txBox="1"/>
          <p:nvPr/>
        </p:nvSpPr>
        <p:spPr>
          <a:xfrm>
            <a:off x="2998304" y="1470163"/>
            <a:ext cx="592693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"One word you want to bring to your relationship today."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word input. Tap to select from 8 soft options (Patient / Present / Honest / Warm / Playful / Open / Gentle / Brave) or type their own.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word appears: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small pill on the Day 2 mood screen when they open 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 shot of a cell phone&#10;&#10;AI-generated content may be incorrect." id="274" name="Google Shape;2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218" y="166687"/>
            <a:ext cx="2400300" cy="4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D2-2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Mood Candle Screen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8 relationship-specific moods. Candle changes colour on selection — the most memorable UI detail in the app.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2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86" name="Google Shape;286;p12"/>
          <p:cNvGraphicFramePr/>
          <p:nvPr/>
        </p:nvGraphicFramePr>
        <p:xfrm>
          <a:off x="2999232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{C97F1714-01B1-43FE-B948-AD8D8905699E}</a:tableStyleId>
              </a:tblPr>
              <a:tblGrid>
                <a:gridCol w="1079000"/>
                <a:gridCol w="914400"/>
                <a:gridCol w="1920250"/>
                <a:gridCol w="109727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Mood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Flame hex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Flame behaviour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Distant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#C8C8E0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Slow, nearly still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#9FE1CB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Steady, full, unhurried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Happiness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Grateful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#FAC775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Round, warm, full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Happiness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Frustrated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#F09595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Tall, agitated, fast flicker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Saturated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Playful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#FAE080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Dancing, irregular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Happiness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#B5D4F4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Small, still, lonely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Overwhelmed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#AFA9EC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Bends sideways, erratic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Loved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#C44569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Full, tall, confident, no flicker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Happiness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p12"/>
          <p:cNvSpPr/>
          <p:nvPr/>
        </p:nvSpPr>
        <p:spPr>
          <a:xfrm>
            <a:off x="2999232" y="3854027"/>
            <a:ext cx="5925312" cy="101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after mood selection and before the follow-up question appears, insert this single prompt as a full-screen moment: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"Before anything else — name one thing about your partner that made you feel something good recently. It can be tiny."</a:t>
            </a:r>
            <a:endParaRPr b="1" sz="9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text field. Soft placeholder: </a:t>
            </a:r>
            <a:r>
              <a:rPr b="1"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"Even the smallest thing counts."</a:t>
            </a: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10–40 characters max. No pressure for length.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immediately becomes a card — their words, in Playfair italic, on a lavender background. Auto-saved to their journal. Takes 20 seconds.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255" y="138429"/>
            <a:ext cx="1859957" cy="4870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D2-3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Follow-Up Question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One question based on the mood's emotional segment. Three question pools rotating daily.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3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00" name="Google Shape;300;p13"/>
          <p:cNvGraphicFramePr/>
          <p:nvPr/>
        </p:nvGraphicFramePr>
        <p:xfrm>
          <a:off x="2999232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{C97F1714-01B1-43FE-B948-AD8D8905699E}</a:tableStyleId>
              </a:tblPr>
              <a:tblGrid>
                <a:gridCol w="1097275"/>
                <a:gridCol w="1645925"/>
                <a:gridCol w="318210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Moods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pool — 3 options, rotated daily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Happiness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Connected, Grateful, Playful, Loved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(1) What made today feel different — something they did, or you noticed? (2) If you could bottle this feeling, what would the label say? (3) What about your relationship right now don't you want to forget?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Distant, Missed, Overwhelmed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(1) Is the heaviness between you two, or outside getting in the way? (2) What would feel better by tomorrow — conversation, space, or just being seen? (3) If your partner could read one sentence about how you feel right now, what would it say?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Saturated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Frustrated only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Adapts to Day 1 Q2: If Q2=A (small things): 'What's the specific small thing that tipped it today?' · If Q2=B (one big thing): 'Is this the same thing again — or something new?' · Default: 'Frustration means something matters. What's underneath this?'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1" name="Google Shape;301;p13"/>
          <p:cNvSpPr/>
          <p:nvPr/>
        </p:nvSpPr>
        <p:spPr>
          <a:xfrm>
            <a:off x="2999232" y="4279392"/>
            <a:ext cx="5925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E7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Privacy note ('This stays with you. We don't store anything') must be visible without scrolling. Skip CTA must always be present — never remove it.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883" y="193427"/>
            <a:ext cx="2130891" cy="475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D3-1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Bridge Screen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Appears every day from Day 2 onward. Same 4-zone template — different content each day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4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8" name="Google Shape;3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553" y="274320"/>
            <a:ext cx="2026847" cy="46713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9" name="Google Shape;319;p14"/>
          <p:cNvGraphicFramePr/>
          <p:nvPr/>
        </p:nvGraphicFramePr>
        <p:xfrm>
          <a:off x="2999232" y="1719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{C97F1714-01B1-43FE-B948-AD8D8905699E}</a:tableStyleId>
              </a:tblPr>
              <a:tblGrid>
                <a:gridCol w="822950"/>
                <a:gridCol w="5102350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Transition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Bridge quote (exact — original to LDA)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D1→D2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"The best relationships aren't built in grand moments — they're built in the ones you keep showing up for."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D2→D3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"Noticing what's good is not the same as ignoring what's hard. It's choosing where to look first."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D3→D4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"The things left unsaid don't disappear. They just find other ways to come out."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D4→D5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 relationship that can hold honesty can hold anything."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14"/>
          <p:cNvSpPr/>
          <p:nvPr/>
        </p:nvSpPr>
        <p:spPr>
          <a:xfrm>
            <a:off x="770804" y="1232464"/>
            <a:ext cx="1442496" cy="64530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Tap to select from 8 soft options (Patient /Present / Honest / Warm / Playful / Open / Gentle / Brave) </a:t>
            </a: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 type</a:t>
            </a: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their own.</a:t>
            </a:r>
            <a:r>
              <a:rPr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D3-1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 Screen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Appears every day from Day 2 onward. Same 4-zone template — different content each day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15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screenshot of a phone&#10;&#10;AI-generated content may be incorrect." id="332" name="Google Shape;3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941" y="142875"/>
            <a:ext cx="2550025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/>
          <p:nvPr/>
        </p:nvSpPr>
        <p:spPr>
          <a:xfrm>
            <a:off x="3185272" y="1554816"/>
            <a:ext cx="4572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single full-screen prompt before the T/F questions begin: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"Before we test what you know about them — what do you want them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know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about you right now?"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sentence. Open text. No character limit. Becomes a shareable card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mint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background: their words + "From [Name], Day 3" in small text.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D3-3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Mirror Game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The Compatibility Challenge. 10 True/False statements about their partner. No results yet shown.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6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6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883" y="155066"/>
            <a:ext cx="1900597" cy="4833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6"/>
          <p:cNvSpPr txBox="1"/>
          <p:nvPr/>
        </p:nvSpPr>
        <p:spPr>
          <a:xfrm>
            <a:off x="3269316" y="1630456"/>
            <a:ext cx="4572000" cy="150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Header: 'The Assumptions Test' — bold, confident. Sub-line: 'You think you know your partner. Let's test that.'</a:t>
            </a:r>
            <a:endParaRPr/>
          </a:p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 rapid True/False statements. One question fills most of the screen. User scrolls through. TRUE button = mint filled. FALSE = ghost outlined.</a:t>
            </a:r>
            <a:endParaRPr/>
          </a:p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Progress bar at bottom — fills mint green as each statement is answered.</a:t>
            </a:r>
            <a:endParaRPr/>
          </a:p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results shown on this screen. All 10 answers are collected first before any reveal.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8" name="Google Shape;348;p16"/>
          <p:cNvGraphicFramePr/>
          <p:nvPr/>
        </p:nvGraphicFramePr>
        <p:xfrm>
          <a:off x="3210485" y="282388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{0C908ADF-780E-46E1-9C87-43F027F8741F}</a:tableStyleId>
              </a:tblPr>
              <a:tblGrid>
                <a:gridCol w="407275"/>
                <a:gridCol w="5523625"/>
              </a:tblGrid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61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716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Statement (all 10 — exact wording)</a:t>
                      </a:r>
                      <a:endParaRPr sz="1800" u="none" cap="none" strike="noStrike">
                        <a:solidFill>
                          <a:srgbClr val="17161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has cried watching a movie in the last year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has thought about quitting their job recently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feels most loved when I give them time, not gifts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has a dream they haven't told me about yet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worries about money more than they let on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would rather stay in than go out on most Fridays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has a friendship they wish they'd kept up better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feels prouder of themselves in our relationship than before it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finds it easier to apologise than I do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8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partner thinks about our future together more than they say out loud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D3-3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2999232" y="621792"/>
            <a:ext cx="6042974" cy="51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3 · Mirror Game Results — The Open Loop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Most powerful conversion screen. Left shows user's answers. Right is blurred. Only partner can complete it.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i="1" sz="105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17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17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819" y="274320"/>
            <a:ext cx="1895907" cy="464515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7"/>
          <p:cNvSpPr txBox="1"/>
          <p:nvPr/>
        </p:nvSpPr>
        <p:spPr>
          <a:xfrm>
            <a:off x="3000375" y="1706096"/>
            <a:ext cx="4572000" cy="26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050">
                <a:solidFill>
                  <a:srgbClr val="2E9E70"/>
                </a:solidFill>
                <a:latin typeface="Calibri"/>
                <a:ea typeface="Calibri"/>
                <a:cs typeface="Calibri"/>
                <a:sym typeface="Calibri"/>
              </a:rPr>
              <a:t>This is the strongest conversion moment in the entire app.</a:t>
            </a:r>
            <a:endParaRPr/>
          </a:p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After all 10 answered: Show LEFT column = user's answers visible. RIGHT column = blurred/frosted (partner's side, empty).</a:t>
            </a:r>
            <a:endParaRPr/>
          </a:p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Bottom banner: 'Since your partner isn't onboarded yet, you can still share this card with them.' — Two CTAs: 'Share card' (export image) and 'Invite partner' (WhatsApp deep link).</a:t>
            </a:r>
            <a:endParaRPr/>
          </a:p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Screenshot / Save icon at top right of screen — always visible. Tapping exports the card as an image.</a:t>
            </a:r>
            <a:endParaRPr/>
          </a:p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open loop: user has answered 10 questions but cannot see if they were right. The ONLY way to resolve the tension is to invite their partner. The invite link writes itself.</a:t>
            </a:r>
            <a:endParaRPr/>
          </a:p>
          <a:p>
            <a:pPr indent="-347472" lvl="0" marL="34747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050">
                <a:solidFill>
                  <a:srgbClr val="2E9E70"/>
                </a:solidFill>
                <a:latin typeface="Calibri"/>
                <a:ea typeface="Calibri"/>
                <a:cs typeface="Calibri"/>
                <a:sym typeface="Calibri"/>
              </a:rPr>
              <a:t>Why Day 3 is critical: This is where users either drop or deeply invest. The game makes them feel the gap between assumption and truth — that gap is your entire product value proposition made visceral.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D4-1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2999232" y="621792"/>
            <a:ext cx="6042974" cy="51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4 · </a:t>
            </a: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Bridge Screen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Drop one memory. Visual jar fills up. By Day 5, the jar is full — proof of 5 days of showing 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i="1" sz="105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8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18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 shot of a phone&#10;&#10;AI-generated content may be incorrect." id="375" name="Google Shape;3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04" y="397529"/>
            <a:ext cx="2400300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8"/>
          <p:cNvSpPr txBox="1"/>
          <p:nvPr/>
        </p:nvSpPr>
        <p:spPr>
          <a:xfrm>
            <a:off x="3000375" y="1630456"/>
            <a:ext cx="5908301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bridge screen entering Day 4, instead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just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yesterday's recap — show a small visual: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"You've shown up 3 days in a row. That's morethan most people give their relationship in amonth."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Below it: a mini timeline showing Days 1–3 ascoloured dots (coral, lavender, mint) with Day4 as a pulsing empty dot waiting to be filled.Small text: 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"Your jar is waiting for one morememory."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pulsing empty dot is the hook. It creates aspecific visual anticipation — not vague("come back tomorrow") but precise ("there isone empty dot and you can fill it today").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D4-1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2999232" y="621792"/>
            <a:ext cx="6042974" cy="51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4 · </a:t>
            </a: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Memory Jar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i="1" sz="105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9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9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3361765" y="1630456"/>
            <a:ext cx="45720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"One word that describes how your partner makes you feel. Justone."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Eight soft word options appear as tappable pills on the amberbackground: Seen / Safe / Lighter / Lucky / Proud / Loved / Calm/ Home.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can tap one or type their own. The word appears insidetheir memory jar as a golden glow — visible when they open thejar view. It is the only personalised label inside the jar. On Day 5'sjar reveal, this word floats up as the jar opens.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AI-generated content may be incorrect." id="390" name="Google Shape;3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012" y="276225"/>
            <a:ext cx="2305050" cy="45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D4-1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2999232" y="621792"/>
            <a:ext cx="6042974" cy="51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4 · </a:t>
            </a: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Memory Jar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Drop one memory. Visual jar fills up. By Day 5, the jar is full — proof of 5 days of showing up</a:t>
            </a:r>
            <a:endParaRPr i="1" sz="105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20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3361765" y="1630456"/>
            <a:ext cx="4572000" cy="3524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Day 4 accent: #C28A00 (golden amber). Background warm cream #FFFCF0.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Header prompt: 'Drop one memory here. A moment with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your partner you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never want to forget.'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Three input types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Text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Photo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Emoji + date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User picks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one.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pressure to write long — even an emoji + date counts.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JAR: Beautiful illustrated glass jar on screen. Each day a paper note animates dropping in. By Day 5 = 5 notes,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jar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 full. This runs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 a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persistent visual metaphor across all 5 days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shown on the bridge screens and the Day 5 reveal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Counter below jar: '[N] memories saved'. Starts at 0, increments each day after a memory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dropped.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'Drop it in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jar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→' CTA — amber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On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tap: a paper note animates flying into the jar (300ms arc animation). Then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jar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gently shakes once.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The jar fills to 55% by Day 4, completing on Day 5. Design shows 60% filled water/golden light level on Day 4.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memories stored on-device only. 'Your memories are private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Never shared, never seen by us.'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AI-generated content may be incorrect." id="404" name="Google Shape;4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862" y="134470"/>
            <a:ext cx="1888629" cy="4882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D4-1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2999232" y="621792"/>
            <a:ext cx="6042974" cy="516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4 · The Daily 2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Two micro-journaling questions. One personal. One relational. By end of 7 days, a private journal built without realising 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21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21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3361765" y="1630456"/>
            <a:ext cx="4572000" cy="3524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Two questions, always paired, always in this order: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Q1 — About you: 'What emotion are you carrying into today?' — labelled with amber tag 'ABOUT YOU'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Q2 — About relationship: 'What's something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your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relationship taught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you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week?' — labelled 'ABOUT YOUR RELATIONSHIP'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Both are open text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No character limit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prompt suggestions. Just blank space.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CTA: 'Save to journal →' — saves to the private on-device journal. After Day 5, journal is accessible from the Jar screen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design insight: These are journaling prompts disguised as micro-interactions. Users are building a private relationship journal without realising it — the journal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product's deepest retention hook.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journal entries stored on-device only. No cloud sync in MVP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'Your journal is yours alone.'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Daily 2 format: always visible after the memory jar drop on Day 4 and Day 5+. Repeats daily after Day 5 as the ongoing habit loop.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C28A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AI-generated content may be incorrect." id="418" name="Google Shape;4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694" y="58831"/>
            <a:ext cx="1910901" cy="5025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D5-1 + D5-2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5-Day</a:t>
            </a:r>
            <a:r>
              <a:rPr b="1" lang="en-US" sz="1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· </a:t>
            </a: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Bridge Screen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i="1" sz="105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22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22"/>
          <p:cNvSpPr/>
          <p:nvPr/>
        </p:nvSpPr>
        <p:spPr>
          <a:xfrm>
            <a:off x="2999232" y="1627632"/>
            <a:ext cx="592531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C44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AI-generated content may be incorrect." id="431" name="Google Shape;4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16" y="109257"/>
            <a:ext cx="2063707" cy="4916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D5-1 + D5-2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5 · The Streak Celebration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Full-screen celebration. Confetti. Badge. This screen must feel like a gift.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i="1" sz="105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23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23"/>
          <p:cNvSpPr/>
          <p:nvPr/>
        </p:nvSpPr>
        <p:spPr>
          <a:xfrm>
            <a:off x="3402643" y="1627632"/>
            <a:ext cx="508487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Progress strip: all 5 pips rose-filled. First time user sees a complete strip — design this moment with care.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Full-screen confetti animation on entry. Rose + day colour confetti pieces raining down. 2 seconds, then settles. This is mandatory — 'Don't let it be silent.'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'5 days of showing up for your relationship. That's not nothing — most people quit at Day 2.'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Three badge options (assign based on personality type + quiz answers): 'The Intentional Partner' / 'The Curious Lover' / 'The Relationship Builder'. Badge shown as a glowing rose circle with bold Playfair text inside.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CTA: 'See your 5-day story →' leads to the Report Card screen.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Secondary CTA (ghost): 'Share my badge' — exports as 1080×1080px image for Instagram/WhatsApp.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C44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AI-generated content may be incorrect." id="444" name="Google Shape;4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065" y="0"/>
            <a:ext cx="194094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D5-1 + D5-2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5 · Relationship Report Card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2999232" y="1133856"/>
            <a:ext cx="5925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A7E78"/>
                </a:solidFill>
                <a:latin typeface="Calibri"/>
                <a:ea typeface="Calibri"/>
                <a:cs typeface="Calibri"/>
                <a:sym typeface="Calibri"/>
              </a:rPr>
              <a:t>The 5-day story visualised. Mood journey graph. Type deep dive. Designed to feel like a love letter, not an evaluation.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i="1" sz="105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4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4"/>
          <p:cNvSpPr/>
          <p:nvPr/>
        </p:nvSpPr>
        <p:spPr>
          <a:xfrm>
            <a:off x="3402643" y="1627632"/>
            <a:ext cx="508487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C44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AI-generated content may be incorrect." id="457" name="Google Shape;4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66" y="58831"/>
            <a:ext cx="2037030" cy="5025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screen with white text&#10;&#10;AI-generated content may be incorrect." id="458" name="Google Shape;4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151" y="1630455"/>
            <a:ext cx="6066434" cy="3454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459" name="Google Shape;45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5167" y="2756646"/>
            <a:ext cx="5377643" cy="2975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5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D5-1 + D5-2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5 · Relationship Report Card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69" name="Google Shape;469;p25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25"/>
          <p:cNvSpPr/>
          <p:nvPr/>
        </p:nvSpPr>
        <p:spPr>
          <a:xfrm>
            <a:off x="3402643" y="1627632"/>
            <a:ext cx="508487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the report card — before the jar reveal — onefull-screen prompt: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"Five days in. One thing you want to do differentlyfor your relationship from tomorrow. Not aresolution. Just one honest intention."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text field. Becomes the last page of theirprivate journal. Appears on the shareable Day 5card alongside their badge. Playfair italic, rosebackground, their words.</a:t>
            </a:r>
            <a:endParaRPr b="1" sz="1050">
              <a:solidFill>
                <a:srgbClr val="C44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AI-generated content may be incorrect." id="471" name="Google Shape;4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447" y="238125"/>
            <a:ext cx="25622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6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"/>
          <p:cNvSpPr/>
          <p:nvPr/>
        </p:nvSpPr>
        <p:spPr>
          <a:xfrm>
            <a:off x="2852928" y="0"/>
            <a:ext cx="7315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2999232" y="274320"/>
            <a:ext cx="1737360" cy="246888"/>
          </a:xfrm>
          <a:prstGeom prst="roundRect">
            <a:avLst>
              <a:gd fmla="val 25926" name="adj"/>
            </a:avLst>
          </a:prstGeom>
          <a:solidFill>
            <a:srgbClr val="C44569">
              <a:alpha val="85098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6"/>
          <p:cNvSpPr/>
          <p:nvPr/>
        </p:nvSpPr>
        <p:spPr>
          <a:xfrm>
            <a:off x="2999232" y="27432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 D5-1 + D5-2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2999232" y="621792"/>
            <a:ext cx="5925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Day 5 · </a:t>
            </a:r>
            <a:r>
              <a:rPr b="1" lang="en-US" sz="2000">
                <a:solidFill>
                  <a:srgbClr val="C28A00"/>
                </a:solidFill>
                <a:latin typeface="Calibri"/>
                <a:ea typeface="Calibri"/>
                <a:cs typeface="Calibri"/>
                <a:sym typeface="Calibri"/>
              </a:rPr>
              <a:t>THE MEMORY JAR SYSTEM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3007636" y="1083430"/>
            <a:ext cx="5916908" cy="452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 visual metaphor that runs across all 5 days. One paper note per day. Full jar = completed streak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i="1" sz="1050">
              <a:solidFill>
                <a:srgbClr val="8A7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2" name="Google Shape;482;p26"/>
          <p:cNvCxnSpPr/>
          <p:nvPr/>
        </p:nvCxnSpPr>
        <p:spPr>
          <a:xfrm>
            <a:off x="2999232" y="1508760"/>
            <a:ext cx="5925312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screen shot of a phone&#10;&#10;AI-generated content may be incorrect." id="483" name="Google Shape;4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56" y="117662"/>
            <a:ext cx="1861392" cy="4916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7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INTERACTIONS + ANIMATIONS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457200" y="49377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i="1" lang="en-US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Reference for all transitions, micro-interactions, and required screen states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1" name="Google Shape;491;p27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{C97F1714-01B1-43FE-B948-AD8D8905699E}</a:tableStyleId>
              </a:tblPr>
              <a:tblGrid>
                <a:gridCol w="1856225"/>
                <a:gridCol w="1856225"/>
                <a:gridCol w="3619650"/>
              </a:tblGrid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Interaction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Specification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Fade from black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open, bridge entry, day results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400ms fade in from #0E0E1F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 up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Follow-up questions, CTAs on bridge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12px up + fade in, 250ms, ease-out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 compress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Quiz option after selection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 0.95 + opacity 0.5, 150ms → next Q slides up 250ms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Count-up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Streak counter on bridge screen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ticks up from prev value, 300ms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Candle colour shift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Mood selection on D2-1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SVG fill transition over 400ms. Flame size/speed also shifts per mood.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Stagger reveal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Mood chips, trait pills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element 50ms delay after previous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Progress bar fill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Snapshot card on D3-1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Animate from 0 to final over 600ms on screen entry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Checkbox animate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I-2 on screen load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Unchecked → checked 300ms. Never pre-ticked statically.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Streak ring pulse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Bridge screen on increment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 1.0 → 1.1 → 1.0, 300ms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44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Haptic feedback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Slider integers, quiz selection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iOS: UIImpactFeedbackGenerator light · Android: HapticFeedbackConstants.KEYBOARD_TAP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92" name="Google Shape;492;p27"/>
          <p:cNvSpPr/>
          <p:nvPr/>
        </p:nvSpPr>
        <p:spPr>
          <a:xfrm>
            <a:off x="457200" y="4114800"/>
            <a:ext cx="8412480" cy="841248"/>
          </a:xfrm>
          <a:prstGeom prst="rect">
            <a:avLst/>
          </a:prstGeom>
          <a:solidFill>
            <a:srgbClr val="F8F7F5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640080" y="418795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REQUIRED STATES — design all of these for every input screen: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640080" y="4443984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Empty  </a:t>
            </a: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Before interacting     </a:t>
            </a:r>
            <a:r>
              <a:rPr b="1" lang="en-US" sz="10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Active/Filled  </a:t>
            </a: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While interacting     </a:t>
            </a:r>
            <a:r>
              <a:rPr b="1" lang="en-US" sz="10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Completed  </a:t>
            </a: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After saving     </a:t>
            </a:r>
            <a:r>
              <a:rPr b="1" lang="en-US" sz="10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Loading  </a:t>
            </a: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reframe only     </a:t>
            </a:r>
            <a:r>
              <a:rPr b="1" lang="en-US" sz="1000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Disabled  </a:t>
            </a: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CTA at 50% opacity before condition met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8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8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C44569">
              <a:alpha val="7843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8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93B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D93B1"/>
                </a:solidFill>
                <a:latin typeface="Calibri"/>
                <a:ea typeface="Calibri"/>
                <a:cs typeface="Calibri"/>
                <a:sym typeface="Calibri"/>
              </a:rPr>
              <a:t>NOT IN THIS MVP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i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 not design screens for any of the following. Answer is: Phase 2.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457200" y="1078992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 view or couple mode — any screen involving a second user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Login, registration, email verification, account creation, password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Subscription or payment screens (Razorpay — Phase 2)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Relationship health dashboard or analytics charts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In-app messaging or couple chat (LDA is NOT a messaging app)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Expert therapist sessions or guided programs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4754880" y="1078992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features or community inside the 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Push notification settings page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settings page or profile page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Voice notes or audio messages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Conflict resolution module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457200" y="4462272"/>
            <a:ext cx="8412480" cy="502920"/>
          </a:xfrm>
          <a:prstGeom prst="rect">
            <a:avLst/>
          </a:prstGeom>
          <a:solidFill>
            <a:srgbClr val="C44569">
              <a:alpha val="12156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7" name="Google Shape;507;p28"/>
          <p:cNvCxnSpPr/>
          <p:nvPr/>
        </p:nvCxnSpPr>
        <p:spPr>
          <a:xfrm>
            <a:off x="457200" y="4462272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28"/>
          <p:cNvSpPr/>
          <p:nvPr/>
        </p:nvSpPr>
        <p:spPr>
          <a:xfrm>
            <a:off x="640080" y="4517136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time a feature from this list comes up during design — document it and move on. This MVP has one job: prove that a user will open the app for 5 consecutive days and feel it was worth their time.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2026-04-09T16:28:21Z</dcterms:created>
  <dc:creator>PptxGenJS</dc:creator>
</cp:coreProperties>
</file>