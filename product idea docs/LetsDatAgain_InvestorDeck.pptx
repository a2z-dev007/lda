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YcCl0iTr3Py1FFCCjmnDuS69u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A3A4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3A3A4A"/>
                </a:solidFill>
                <a:latin typeface="Arial"/>
              </a:rPr>
              <a:t>Paid Couples Growth (000s)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Paid Couples (000s)</c:v>
                </c:pt>
              </c:strCache>
            </c:strRef>
          </c:tx>
          <c:spPr>
            <a:solidFill>
              <a:srgbClr val="C445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C4456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25</c:v>
                </c:pt>
                <c:pt idx="2">
                  <c:v>80</c:v>
                </c:pt>
                <c:pt idx="3">
                  <c:v>200</c:v>
                </c:pt>
                <c:pt idx="4">
                  <c:v>450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C4456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1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583680" y="-457200"/>
            <a:ext cx="3474720" cy="3474720"/>
          </a:xfrm>
          <a:prstGeom prst="ellipse">
            <a:avLst/>
          </a:prstGeom>
          <a:solidFill>
            <a:srgbClr val="C44569">
              <a:alpha val="18039"/>
            </a:srgbClr>
          </a:solidFill>
          <a:ln cap="flat" cmpd="sng" w="12700">
            <a:solidFill>
              <a:srgbClr val="C44569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132320" y="2377440"/>
            <a:ext cx="2286000" cy="2286000"/>
          </a:xfrm>
          <a:prstGeom prst="ellipse">
            <a:avLst/>
          </a:prstGeom>
          <a:solidFill>
            <a:srgbClr val="E8A0B4">
              <a:alpha val="12156"/>
            </a:srgbClr>
          </a:solidFill>
          <a:ln cap="flat" cmpd="sng" w="12700">
            <a:solidFill>
              <a:srgbClr val="E8A0B4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11480" y="960120"/>
            <a:ext cx="2148840" cy="320040"/>
          </a:xfrm>
          <a:prstGeom prst="roundRect">
            <a:avLst>
              <a:gd fmla="val 22857" name="adj"/>
            </a:avLst>
          </a:prstGeom>
          <a:solidFill>
            <a:srgbClr val="C44569">
              <a:alpha val="30196"/>
            </a:srgbClr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411480" y="96012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INVESTOR BRIEF  •  2025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65760" y="1463040"/>
            <a:ext cx="6583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Georg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Let's Date Again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65760" y="2606040"/>
            <a:ext cx="5943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A0B4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E8A0B4"/>
                </a:solidFill>
                <a:latin typeface="Calibri"/>
                <a:ea typeface="Calibri"/>
                <a:cs typeface="Calibri"/>
                <a:sym typeface="Calibri"/>
              </a:rPr>
              <a:t>The relationship wellness platform built to save Indian marriages — and scale globally.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1"/>
          <p:cNvCxnSpPr/>
          <p:nvPr/>
        </p:nvCxnSpPr>
        <p:spPr>
          <a:xfrm>
            <a:off x="365760" y="3520440"/>
            <a:ext cx="2926080" cy="0"/>
          </a:xfrm>
          <a:prstGeom prst="straightConnector1">
            <a:avLst/>
          </a:prstGeom>
          <a:noFill/>
          <a:ln cap="flat" cmpd="sng" w="1905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1"/>
          <p:cNvSpPr/>
          <p:nvPr/>
        </p:nvSpPr>
        <p:spPr>
          <a:xfrm>
            <a:off x="365760" y="37033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Market: </a:t>
            </a:r>
            <a:r>
              <a:rPr b="0" i="0" lang="en-US" sz="11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Relationship Wellness  •  AI-powered  •  India-first, Global-ready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8F5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320040" y="164592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LDA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BEAF0"/>
          </a:solidFill>
          <a:ln cap="flat" cmpd="sng" w="12700">
            <a:solidFill>
              <a:srgbClr val="FB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365760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Let's Date Again  |  Confidential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11480" y="201168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11480" y="475488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India's marriages are quietly breaking down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11480" y="1097280"/>
            <a:ext cx="4023360" cy="333756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548640" y="1234440"/>
            <a:ext cx="37491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Couples aren't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falling out of love.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They're falling out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of </a:t>
            </a:r>
            <a:r>
              <a:rPr b="0" i="1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habit.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48640" y="3127248"/>
            <a:ext cx="3749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BEAF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BEAF0"/>
                </a:solidFill>
                <a:latin typeface="Calibri"/>
                <a:ea typeface="Calibri"/>
                <a:cs typeface="Calibri"/>
                <a:sym typeface="Calibri"/>
              </a:rPr>
              <a:t>Communication debt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BEAF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BEAF0"/>
                </a:solidFill>
                <a:latin typeface="Calibri"/>
                <a:ea typeface="Calibri"/>
                <a:cs typeface="Calibri"/>
                <a:sym typeface="Calibri"/>
              </a:rPr>
              <a:t>accumulates silently in busy Indian households — until separation feels like the only option.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663440" y="1097280"/>
            <a:ext cx="2011680" cy="13716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663440" y="1097280"/>
            <a:ext cx="64008" cy="137160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4828032" y="1234440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10M+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828032" y="1810512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marriages per year in India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(Wikipedia / CAIT 2024)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839712" y="1097280"/>
            <a:ext cx="2011680" cy="13716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839712" y="1097280"/>
            <a:ext cx="64008" cy="137160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7004304" y="1234440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30%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004304" y="1810512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rise in divorce rates over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the last decade in Tier 1 cities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663440" y="2651760"/>
            <a:ext cx="2011680" cy="13716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663440" y="2651760"/>
            <a:ext cx="64008" cy="137160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4828032" y="2788920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1.3%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828032" y="3364992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national divorce rate — up 3x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from 0.4% in 2000 (Litem.in)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839712" y="2651760"/>
            <a:ext cx="2011680" cy="13716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6839712" y="2651760"/>
            <a:ext cx="64008" cy="137160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7004304" y="2788920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#1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7004304" y="3364992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cause: communication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gaps &amp; emotional distance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/>
          <p:nvPr/>
        </p:nvSpPr>
        <p:spPr>
          <a:xfrm>
            <a:off x="320040" y="164592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LDA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BEAF0"/>
          </a:solidFill>
          <a:ln cap="flat" cmpd="sng" w="12700">
            <a:solidFill>
              <a:srgbClr val="FB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365760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Let's Date Again  |  Confidential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11480" y="20116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MARKET RESEARCH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11480" y="4754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India marriage &amp; divorce: the exact numbers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11480" y="1097280"/>
            <a:ext cx="3977640" cy="3474720"/>
          </a:xfrm>
          <a:prstGeom prst="rect">
            <a:avLst/>
          </a:prstGeom>
          <a:solidFill>
            <a:srgbClr val="FBEAF0"/>
          </a:solidFill>
          <a:ln cap="flat" cmpd="sng" w="12700">
            <a:solidFill>
              <a:srgbClr val="FB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411480" y="1097280"/>
            <a:ext cx="3977640" cy="420624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502920" y="1097280"/>
            <a:ext cx="37947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MARRIAGES IN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11480" y="1600200"/>
            <a:ext cx="3977640" cy="265176"/>
          </a:xfrm>
          <a:prstGeom prst="rect">
            <a:avLst/>
          </a:prstGeom>
          <a:solidFill>
            <a:srgbClr val="FBEAF0"/>
          </a:solidFill>
          <a:ln cap="flat" cmpd="sng" w="12700">
            <a:solidFill>
              <a:srgbClr val="FB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502920" y="1618488"/>
            <a:ext cx="10972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Annual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627632" y="1618488"/>
            <a:ext cx="26517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~10 million marriages / year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11480" y="1874520"/>
            <a:ext cx="3977640" cy="265176"/>
          </a:xfrm>
          <a:prstGeom prst="rect">
            <a:avLst/>
          </a:prstGeom>
          <a:solidFill>
            <a:srgbClr val="F8EEF3"/>
          </a:solidFill>
          <a:ln cap="flat" cmpd="sng" w="12700">
            <a:solidFill>
              <a:srgbClr val="FB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502920" y="1892808"/>
            <a:ext cx="10972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Monthly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627632" y="1892808"/>
            <a:ext cx="26517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~833,000 marriages / month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11480" y="2148840"/>
            <a:ext cx="3977640" cy="265176"/>
          </a:xfrm>
          <a:prstGeom prst="rect">
            <a:avLst/>
          </a:prstGeom>
          <a:solidFill>
            <a:srgbClr val="FBEAF0"/>
          </a:solidFill>
          <a:ln cap="flat" cmpd="sng" w="12700">
            <a:solidFill>
              <a:srgbClr val="FB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502920" y="2167128"/>
            <a:ext cx="10972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Daily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1627632" y="2167128"/>
            <a:ext cx="26517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~27,400 marriages / day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11480" y="2423160"/>
            <a:ext cx="3977640" cy="265176"/>
          </a:xfrm>
          <a:prstGeom prst="rect">
            <a:avLst/>
          </a:prstGeom>
          <a:solidFill>
            <a:srgbClr val="F8EEF3"/>
          </a:solidFill>
          <a:ln cap="flat" cmpd="sng" w="12700">
            <a:solidFill>
              <a:srgbClr val="FB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502920" y="2441448"/>
            <a:ext cx="10972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Season peak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627632" y="2441448"/>
            <a:ext cx="26517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Nov–Dec: 4.8M weddings (CAIT 2024)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11480" y="2697480"/>
            <a:ext cx="3977640" cy="265176"/>
          </a:xfrm>
          <a:prstGeom prst="rect">
            <a:avLst/>
          </a:prstGeom>
          <a:solidFill>
            <a:srgbClr val="FBEAF0"/>
          </a:solidFill>
          <a:ln cap="flat" cmpd="sng" w="12700">
            <a:solidFill>
              <a:srgbClr val="FB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502920" y="2715768"/>
            <a:ext cx="10972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Arranged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1627632" y="2715768"/>
            <a:ext cx="26517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~90% are arranged or semi-arranged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11480" y="2971800"/>
            <a:ext cx="3977640" cy="265176"/>
          </a:xfrm>
          <a:prstGeom prst="rect">
            <a:avLst/>
          </a:prstGeom>
          <a:solidFill>
            <a:srgbClr val="F8EEF3"/>
          </a:solidFill>
          <a:ln cap="flat" cmpd="sng" w="12700">
            <a:solidFill>
              <a:srgbClr val="FB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502920" y="2990088"/>
            <a:ext cx="10972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Key 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1627632" y="2990088"/>
            <a:ext cx="26517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Women 20–25, Men 23–28 at first marriage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11480" y="3246120"/>
            <a:ext cx="3977640" cy="265176"/>
          </a:xfrm>
          <a:prstGeom prst="rect">
            <a:avLst/>
          </a:prstGeom>
          <a:solidFill>
            <a:srgbClr val="FBEAF0"/>
          </a:solidFill>
          <a:ln cap="flat" cmpd="sng" w="12700">
            <a:solidFill>
              <a:srgbClr val="FB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502920" y="3264408"/>
            <a:ext cx="10972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Urban share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1627632" y="3264408"/>
            <a:ext cx="26517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Tier 1 cities: ~25% of all marriages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11480" y="3520440"/>
            <a:ext cx="3977640" cy="265176"/>
          </a:xfrm>
          <a:prstGeom prst="rect">
            <a:avLst/>
          </a:prstGeom>
          <a:solidFill>
            <a:srgbClr val="F8EEF3"/>
          </a:solidFill>
          <a:ln cap="flat" cmpd="sng" w="12700">
            <a:solidFill>
              <a:srgbClr val="FB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502920" y="3538728"/>
            <a:ext cx="10972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627632" y="3538728"/>
            <a:ext cx="26517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Wikipedia / CAIT / Business Standard 2024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4754880" y="1097280"/>
            <a:ext cx="3977640" cy="3474720"/>
          </a:xfrm>
          <a:prstGeom prst="rect">
            <a:avLst/>
          </a:prstGeom>
          <a:solidFill>
            <a:srgbClr val="FFF4DC"/>
          </a:solidFill>
          <a:ln cap="flat" cmpd="sng" w="12700">
            <a:solidFill>
              <a:srgbClr val="FFF4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4754880" y="1097280"/>
            <a:ext cx="3977640" cy="420624"/>
          </a:xfrm>
          <a:prstGeom prst="rect">
            <a:avLst/>
          </a:prstGeom>
          <a:solidFill>
            <a:srgbClr val="D4870A"/>
          </a:solidFill>
          <a:ln cap="flat" cmpd="sng" w="12700">
            <a:solidFill>
              <a:srgbClr val="D487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4846320" y="1097280"/>
            <a:ext cx="37947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DIVORCES &amp; COUNSELLING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754880" y="1600200"/>
            <a:ext cx="3977640" cy="265176"/>
          </a:xfrm>
          <a:prstGeom prst="rect">
            <a:avLst/>
          </a:prstGeom>
          <a:solidFill>
            <a:srgbClr val="FFF4DC"/>
          </a:solidFill>
          <a:ln cap="flat" cmpd="sng" w="12700">
            <a:solidFill>
              <a:srgbClr val="FFF4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4846320" y="1618488"/>
            <a:ext cx="1371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870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4870A"/>
                </a:solidFill>
                <a:latin typeface="Calibri"/>
                <a:ea typeface="Calibri"/>
                <a:cs typeface="Calibri"/>
                <a:sym typeface="Calibri"/>
              </a:rPr>
              <a:t>Annual divorces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6245352" y="1618488"/>
            <a:ext cx="23774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~130,000 – 150,000 / year (est.)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4754880" y="1874520"/>
            <a:ext cx="3977640" cy="265176"/>
          </a:xfrm>
          <a:prstGeom prst="rect">
            <a:avLst/>
          </a:prstGeom>
          <a:solidFill>
            <a:srgbClr val="FFF8E8"/>
          </a:solidFill>
          <a:ln cap="flat" cmpd="sng" w="12700">
            <a:solidFill>
              <a:srgbClr val="FFF4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4846320" y="1892808"/>
            <a:ext cx="1371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870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4870A"/>
                </a:solidFill>
                <a:latin typeface="Calibri"/>
                <a:ea typeface="Calibri"/>
                <a:cs typeface="Calibri"/>
                <a:sym typeface="Calibri"/>
              </a:rPr>
              <a:t>Monthly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6245352" y="1892808"/>
            <a:ext cx="23774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~11,000 – 12,500 divorces / month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754880" y="2148840"/>
            <a:ext cx="3977640" cy="265176"/>
          </a:xfrm>
          <a:prstGeom prst="rect">
            <a:avLst/>
          </a:prstGeom>
          <a:solidFill>
            <a:srgbClr val="FFF4DC"/>
          </a:solidFill>
          <a:ln cap="flat" cmpd="sng" w="12700">
            <a:solidFill>
              <a:srgbClr val="FFF4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4846320" y="2167128"/>
            <a:ext cx="1371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870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4870A"/>
                </a:solidFill>
                <a:latin typeface="Calibri"/>
                <a:ea typeface="Calibri"/>
                <a:cs typeface="Calibri"/>
                <a:sym typeface="Calibri"/>
              </a:rPr>
              <a:t>Daily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6245352" y="2167128"/>
            <a:ext cx="23774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~370 – 420 divorces / day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4754880" y="2423160"/>
            <a:ext cx="3977640" cy="265176"/>
          </a:xfrm>
          <a:prstGeom prst="rect">
            <a:avLst/>
          </a:prstGeom>
          <a:solidFill>
            <a:srgbClr val="FFF8E8"/>
          </a:solidFill>
          <a:ln cap="flat" cmpd="sng" w="12700">
            <a:solidFill>
              <a:srgbClr val="FFF4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4846320" y="2441448"/>
            <a:ext cx="1371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870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4870A"/>
                </a:solidFill>
                <a:latin typeface="Calibri"/>
                <a:ea typeface="Calibri"/>
                <a:cs typeface="Calibri"/>
                <a:sym typeface="Calibri"/>
              </a:rPr>
              <a:t>Trend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6245352" y="2441448"/>
            <a:ext cx="23774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Up 30% over last decade in Tier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4754880" y="2697480"/>
            <a:ext cx="3977640" cy="265176"/>
          </a:xfrm>
          <a:prstGeom prst="rect">
            <a:avLst/>
          </a:prstGeom>
          <a:solidFill>
            <a:srgbClr val="FFF4DC"/>
          </a:solidFill>
          <a:ln cap="flat" cmpd="sng" w="12700">
            <a:solidFill>
              <a:srgbClr val="FFF4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4846320" y="2715768"/>
            <a:ext cx="1371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870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4870A"/>
                </a:solidFill>
                <a:latin typeface="Calibri"/>
                <a:ea typeface="Calibri"/>
                <a:cs typeface="Calibri"/>
                <a:sym typeface="Calibri"/>
              </a:rPr>
              <a:t>Urban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6245352" y="2715768"/>
            <a:ext cx="23774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Delhi 1.9%, Mumbai 1.7%, Kerala 2.5%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4754880" y="2971800"/>
            <a:ext cx="3977640" cy="265176"/>
          </a:xfrm>
          <a:prstGeom prst="rect">
            <a:avLst/>
          </a:prstGeom>
          <a:solidFill>
            <a:srgbClr val="FFF8E8"/>
          </a:solidFill>
          <a:ln cap="flat" cmpd="sng" w="12700">
            <a:solidFill>
              <a:srgbClr val="FFF4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4846320" y="2990088"/>
            <a:ext cx="1371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870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4870A"/>
                </a:solidFill>
                <a:latin typeface="Calibri"/>
                <a:ea typeface="Calibri"/>
                <a:cs typeface="Calibri"/>
                <a:sym typeface="Calibri"/>
              </a:rPr>
              <a:t>National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245352" y="2990088"/>
            <a:ext cx="23774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1.3 per 100 marriages (2022 est.)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4754880" y="3246120"/>
            <a:ext cx="3977640" cy="265176"/>
          </a:xfrm>
          <a:prstGeom prst="rect">
            <a:avLst/>
          </a:prstGeom>
          <a:solidFill>
            <a:srgbClr val="FFF4DC"/>
          </a:solidFill>
          <a:ln cap="flat" cmpd="sng" w="12700">
            <a:solidFill>
              <a:srgbClr val="FFF4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4846320" y="3264408"/>
            <a:ext cx="1371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870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4870A"/>
                </a:solidFill>
                <a:latin typeface="Calibri"/>
                <a:ea typeface="Calibri"/>
                <a:cs typeface="Calibri"/>
                <a:sym typeface="Calibri"/>
              </a:rPr>
              <a:t>Counselling mkt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6245352" y="3264408"/>
            <a:ext cx="23774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$17.9B global in 2024; APAC fastest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4754880" y="3520440"/>
            <a:ext cx="3977640" cy="265176"/>
          </a:xfrm>
          <a:prstGeom prst="rect">
            <a:avLst/>
          </a:prstGeom>
          <a:solidFill>
            <a:srgbClr val="FFF8E8"/>
          </a:solidFill>
          <a:ln cap="flat" cmpd="sng" w="12700">
            <a:solidFill>
              <a:srgbClr val="FFF4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4846320" y="3538728"/>
            <a:ext cx="1371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870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4870A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6245352" y="3538728"/>
            <a:ext cx="23774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Litem.in / Rematch.in / Research &amp; Mkt 2024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THE OPPORTUNITY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 category that does not exist yet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365760" y="1417320"/>
            <a:ext cx="4160520" cy="1572768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C4456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365760" y="1417320"/>
            <a:ext cx="4160520" cy="64008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502920" y="1536192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502920" y="185623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daily-habit app for couples in India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502920" y="2221992"/>
            <a:ext cx="3931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Dating apps are for singles. Therapy apps are too expensive. There is zero app designed to make showing up for your marriage a daily, joyful habit.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754880" y="1417320"/>
            <a:ext cx="4160520" cy="1572768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C4456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4754880" y="1417320"/>
            <a:ext cx="4160520" cy="64008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4892040" y="1536192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4892040" y="185623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850M+ smartphone users, zero couple-specific tool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892040" y="2221992"/>
            <a:ext cx="3931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Massive digital adoption but relationship wellness remains offline, unstructured, and inaccessible to the average Indian couple.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365760" y="3154680"/>
            <a:ext cx="4160520" cy="1572768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C4456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365760" y="3154680"/>
            <a:ext cx="4160520" cy="64008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502920" y="3273552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502920" y="359359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₹6 trillion wedding industry, zero post-wedding retention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502920" y="3959352"/>
            <a:ext cx="3931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India is the world's 2nd largest wedding market. No player captures the relationship after the ceremony — that's the white space.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4754880" y="3154680"/>
            <a:ext cx="4160520" cy="1572768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C4456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4754880" y="3154680"/>
            <a:ext cx="4160520" cy="64008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4892040" y="3273552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4892040" y="359359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AI-powered emotional support is table stakes now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4892040" y="3959352"/>
            <a:ext cx="3931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68% of individuals are now open to seeking relationship counselling. Mobile + AI makes this moment inevitable. Who builds it first wins.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8F5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"/>
          <p:cNvSpPr/>
          <p:nvPr/>
        </p:nvSpPr>
        <p:spPr>
          <a:xfrm>
            <a:off x="320040" y="164592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LDA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BEAF0"/>
          </a:solidFill>
          <a:ln cap="flat" cmpd="sng" w="12700">
            <a:solidFill>
              <a:srgbClr val="FB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365760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Let's Date Again  |  Confidential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11480" y="20116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411480" y="4754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A daily ritual app, not just another messaging tool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365760" y="1051560"/>
            <a:ext cx="2240280" cy="868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365760" y="1051560"/>
            <a:ext cx="64008" cy="86868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502920" y="1097280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502920" y="1435608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Emotional Drop Box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502920" y="1664208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AI converts raw feelings into gentle, constructive words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2697480" y="1051560"/>
            <a:ext cx="2240280" cy="868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2697480" y="1051560"/>
            <a:ext cx="64008" cy="86868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2834640" y="1097280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💖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2834640" y="1435608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Daily Compliments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2834640" y="1664208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Prompt-based gratitude that rewires positivity patterns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365760" y="2057400"/>
            <a:ext cx="2240280" cy="868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365760" y="2057400"/>
            <a:ext cx="64008" cy="86868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502920" y="2103120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🧭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502920" y="2441448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Guided Communication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502920" y="2670048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Tone-calibration engine softens reactive messages before send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2697480" y="2057400"/>
            <a:ext cx="2240280" cy="868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2697480" y="2057400"/>
            <a:ext cx="64008" cy="86868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2834640" y="2103120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📅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2834640" y="2441448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Micro-Action Tasks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2834640" y="2670048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10-min rituals that build connection without extra time pressure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365760" y="3063240"/>
            <a:ext cx="2240280" cy="868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365760" y="3063240"/>
            <a:ext cx="64008" cy="86868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502920" y="3108960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502920" y="3447288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Private Couple Space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502920" y="3675888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Zero external distraction — your 1:1 sanctuary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2697480" y="3063240"/>
            <a:ext cx="2240280" cy="868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2697480" y="3063240"/>
            <a:ext cx="64008" cy="86868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2834640" y="3108960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2834640" y="3447288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Relationship Dashboard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2834640" y="3675888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Tracks frequency, positivity ratio, and effort over 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365760" y="4590288"/>
            <a:ext cx="4617720" cy="201168"/>
          </a:xfrm>
          <a:prstGeom prst="rect">
            <a:avLst/>
          </a:prstGeom>
          <a:solidFill>
            <a:srgbClr val="FBEAF0"/>
          </a:solidFill>
          <a:ln cap="flat" cmpd="sng" w="12700">
            <a:solidFill>
              <a:srgbClr val="FB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5166360" y="1051560"/>
            <a:ext cx="3657600" cy="356616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5303520" y="118872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 makes us different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5303520" y="1810512"/>
            <a:ext cx="201168" cy="201168"/>
          </a:xfrm>
          <a:prstGeom prst="ellipse">
            <a:avLst/>
          </a:prstGeom>
          <a:solidFill>
            <a:srgbClr val="FFFFFF">
              <a:alpha val="74901"/>
            </a:srgbClr>
          </a:solidFill>
          <a:ln cap="flat" cmpd="sng" w="12700">
            <a:solidFill>
              <a:srgbClr val="E8A0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5577840" y="1773936"/>
            <a:ext cx="3108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BEA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BEAF0"/>
                </a:solidFill>
                <a:latin typeface="Calibri"/>
                <a:ea typeface="Calibri"/>
                <a:cs typeface="Calibri"/>
                <a:sym typeface="Calibri"/>
              </a:rPr>
              <a:t>Personalization engine built on questionnaire: love language, personality type, relationship duration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5303520" y="2295144"/>
            <a:ext cx="201168" cy="201168"/>
          </a:xfrm>
          <a:prstGeom prst="ellipse">
            <a:avLst/>
          </a:prstGeom>
          <a:solidFill>
            <a:srgbClr val="FFFFFF">
              <a:alpha val="74901"/>
            </a:srgbClr>
          </a:solidFill>
          <a:ln cap="flat" cmpd="sng" w="12700">
            <a:solidFill>
              <a:srgbClr val="E8A0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5577840" y="2258568"/>
            <a:ext cx="3108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BEA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BEAF0"/>
                </a:solidFill>
                <a:latin typeface="Calibri"/>
                <a:ea typeface="Calibri"/>
                <a:cs typeface="Calibri"/>
                <a:sym typeface="Calibri"/>
              </a:rPr>
              <a:t>AI does not advise — it translates. Converts your emotion into words your partner can actually hear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5303520" y="2779776"/>
            <a:ext cx="201168" cy="201168"/>
          </a:xfrm>
          <a:prstGeom prst="ellipse">
            <a:avLst/>
          </a:prstGeom>
          <a:solidFill>
            <a:srgbClr val="FFFFFF">
              <a:alpha val="74901"/>
            </a:srgbClr>
          </a:solidFill>
          <a:ln cap="flat" cmpd="sng" w="12700">
            <a:solidFill>
              <a:srgbClr val="E8A0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5577840" y="2743200"/>
            <a:ext cx="3108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BEA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BEAF0"/>
                </a:solidFill>
                <a:latin typeface="Calibri"/>
                <a:ea typeface="Calibri"/>
                <a:cs typeface="Calibri"/>
                <a:sym typeface="Calibri"/>
              </a:rPr>
              <a:t>Gender-aware UX without stereotypes: action-oriented for reluctant partners, reflective for expressive ones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5303520" y="3264408"/>
            <a:ext cx="201168" cy="201168"/>
          </a:xfrm>
          <a:prstGeom prst="ellipse">
            <a:avLst/>
          </a:prstGeom>
          <a:solidFill>
            <a:srgbClr val="FFFFFF">
              <a:alpha val="74901"/>
            </a:srgbClr>
          </a:solidFill>
          <a:ln cap="flat" cmpd="sng" w="12700">
            <a:solidFill>
              <a:srgbClr val="E8A0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5577840" y="3227832"/>
            <a:ext cx="3108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BEA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BEAF0"/>
                </a:solidFill>
                <a:latin typeface="Calibri"/>
                <a:ea typeface="Calibri"/>
                <a:cs typeface="Calibri"/>
                <a:sym typeface="Calibri"/>
              </a:rPr>
              <a:t>No therapist required. No appointments. No stigma. Just 5 minutes a day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5303520" y="3749040"/>
            <a:ext cx="201168" cy="201168"/>
          </a:xfrm>
          <a:prstGeom prst="ellipse">
            <a:avLst/>
          </a:prstGeom>
          <a:solidFill>
            <a:srgbClr val="FFFFFF">
              <a:alpha val="74901"/>
            </a:srgbClr>
          </a:solidFill>
          <a:ln cap="flat" cmpd="sng" w="12700">
            <a:solidFill>
              <a:srgbClr val="E8A0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5577840" y="3712464"/>
            <a:ext cx="3108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BEA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BEAF0"/>
                </a:solidFill>
                <a:latin typeface="Calibri"/>
                <a:ea typeface="Calibri"/>
                <a:cs typeface="Calibri"/>
                <a:sym typeface="Calibri"/>
              </a:rPr>
              <a:t>The app learns your couple's patterns over time and proactively nudges before conflict forms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"/>
          <p:cNvSpPr/>
          <p:nvPr/>
        </p:nvSpPr>
        <p:spPr>
          <a:xfrm>
            <a:off x="320040" y="164592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LDA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BEAF0"/>
          </a:solidFill>
          <a:ln cap="flat" cmpd="sng" w="12700">
            <a:solidFill>
              <a:srgbClr val="FB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365760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Let's Date Again  |  Confidential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411480" y="20116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MARKET SIZE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411480" y="4754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A convergence of three massive markets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411480" y="1078992"/>
            <a:ext cx="2743200" cy="2743200"/>
          </a:xfrm>
          <a:prstGeom prst="ellipse">
            <a:avLst/>
          </a:prstGeom>
          <a:solidFill>
            <a:srgbClr val="FBEAF0"/>
          </a:solidFill>
          <a:ln cap="flat" cmpd="sng" w="1905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411480" y="1353312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TAM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411480" y="1901952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$26.6B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411480" y="2587752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Global relationship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wellness + counselling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411480" y="31638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by 2028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3291840" y="1353312"/>
            <a:ext cx="2286000" cy="2286000"/>
          </a:xfrm>
          <a:prstGeom prst="ellipse">
            <a:avLst/>
          </a:prstGeom>
          <a:solidFill>
            <a:srgbClr val="E8A0B4"/>
          </a:solidFill>
          <a:ln cap="flat" cmpd="sng" w="1905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3291840" y="1581912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SAM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3291840" y="2039112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$3.2B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3291840" y="2610612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Asia-Pacific digital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couple wellness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3291840" y="309067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2024 base; 15% CAGR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5669280" y="1627632"/>
            <a:ext cx="1828800" cy="1828800"/>
          </a:xfrm>
          <a:prstGeom prst="ellipse">
            <a:avLst/>
          </a:prstGeom>
          <a:solidFill>
            <a:srgbClr val="C44569"/>
          </a:solidFill>
          <a:ln cap="flat" cmpd="sng" w="1905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5669280" y="181051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SOM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5669280" y="217627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$320M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5669280" y="263347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BEA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BEAF0"/>
                </a:solidFill>
                <a:latin typeface="Calibri"/>
                <a:ea typeface="Calibri"/>
                <a:cs typeface="Calibri"/>
                <a:sym typeface="Calibri"/>
              </a:rPr>
              <a:t>India urban couples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BEA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BEAF0"/>
                </a:solidFill>
                <a:latin typeface="Calibri"/>
                <a:ea typeface="Calibri"/>
                <a:cs typeface="Calibri"/>
                <a:sym typeface="Calibri"/>
              </a:rPr>
              <a:t>(5-year target)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5669280" y="30175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B4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E8A0B4"/>
                </a:solidFill>
                <a:latin typeface="Calibri"/>
                <a:ea typeface="Calibri"/>
                <a:cs typeface="Calibri"/>
                <a:sym typeface="Calibri"/>
              </a:rPr>
              <a:t>1M paid couples @ ₹2,500/yr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411480" y="3977640"/>
            <a:ext cx="2011680" cy="822960"/>
          </a:xfrm>
          <a:prstGeom prst="rect">
            <a:avLst/>
          </a:prstGeom>
          <a:solidFill>
            <a:srgbClr val="F4F4F8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6"/>
          <p:cNvSpPr/>
          <p:nvPr/>
        </p:nvSpPr>
        <p:spPr>
          <a:xfrm>
            <a:off x="411480" y="4005072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600M+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411480" y="4416552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married adults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in India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2587752" y="3977640"/>
            <a:ext cx="2011680" cy="822960"/>
          </a:xfrm>
          <a:prstGeom prst="rect">
            <a:avLst/>
          </a:prstGeom>
          <a:solidFill>
            <a:srgbClr val="F4F4F8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2587752" y="4005072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10M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2587752" y="4416552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new couples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every year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4764024" y="3977640"/>
            <a:ext cx="2011680" cy="822960"/>
          </a:xfrm>
          <a:prstGeom prst="rect">
            <a:avLst/>
          </a:prstGeom>
          <a:solidFill>
            <a:srgbClr val="F4F4F8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4764024" y="4005072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68%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4764024" y="4416552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Indians now open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to counselling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6940296" y="3977640"/>
            <a:ext cx="2011680" cy="822960"/>
          </a:xfrm>
          <a:prstGeom prst="rect">
            <a:avLst/>
          </a:prstGeom>
          <a:solidFill>
            <a:srgbClr val="F4F4F8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6940296" y="4005072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15%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6940296" y="4416552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CAGR on global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couples therapy mkt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8F5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"/>
          <p:cNvSpPr/>
          <p:nvPr/>
        </p:nvSpPr>
        <p:spPr>
          <a:xfrm>
            <a:off x="320040" y="164592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LDA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BEAF0"/>
          </a:solidFill>
          <a:ln cap="flat" cmpd="sng" w="12700">
            <a:solidFill>
              <a:srgbClr val="FB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365760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Let's Date Again  |  Confidential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411480" y="20116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BUSINESS MODEL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411480" y="4754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Three revenue tiers. Four monetization streams.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411480" y="1078992"/>
            <a:ext cx="2651760" cy="33375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411480" y="1078992"/>
            <a:ext cx="73152" cy="333756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548640" y="1170432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548640" y="1444752"/>
            <a:ext cx="2423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₹0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548640" y="2011680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forever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7"/>
          <p:cNvCxnSpPr/>
          <p:nvPr/>
        </p:nvCxnSpPr>
        <p:spPr>
          <a:xfrm>
            <a:off x="548640" y="2304288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8" name="Google Shape;258;p7"/>
          <p:cNvSpPr/>
          <p:nvPr/>
        </p:nvSpPr>
        <p:spPr>
          <a:xfrm>
            <a:off x="548640" y="2395728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E7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A9E75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05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3 emotional logs/week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548640" y="2816352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E7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A9E75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05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Basic couple space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548640" y="3236976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E7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A9E75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05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1 daily prompt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3246120" y="1078992"/>
            <a:ext cx="2651760" cy="333756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3383280" y="1170432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EAF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BEAF0"/>
                </a:solidFill>
                <a:latin typeface="Calibri"/>
                <a:ea typeface="Calibri"/>
                <a:cs typeface="Calibri"/>
                <a:sym typeface="Calibri"/>
              </a:rPr>
              <a:t>PREMIUM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3383280" y="1444752"/>
            <a:ext cx="2423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₹299–599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3383280" y="2011680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B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8A0B4"/>
                </a:solidFill>
                <a:latin typeface="Calibri"/>
                <a:ea typeface="Calibri"/>
                <a:cs typeface="Calibri"/>
                <a:sym typeface="Calibri"/>
              </a:rPr>
              <a:t>per month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5" name="Google Shape;265;p7"/>
          <p:cNvCxnSpPr/>
          <p:nvPr/>
        </p:nvCxnSpPr>
        <p:spPr>
          <a:xfrm>
            <a:off x="3383280" y="2304288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E8A0B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6" name="Google Shape;266;p7"/>
          <p:cNvSpPr/>
          <p:nvPr/>
        </p:nvSpPr>
        <p:spPr>
          <a:xfrm>
            <a:off x="3383280" y="2395728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B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A0B4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Unlimited emotional drops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3383280" y="2816352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B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A0B4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communication assist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3383280" y="3236976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B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A0B4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Relationship dashboard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3383280" y="365760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B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A0B4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Advanced prompts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6080760" y="1078992"/>
            <a:ext cx="2651760" cy="33375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6080760" y="1078992"/>
            <a:ext cx="73152" cy="333756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6217920" y="1170432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PRO COUPLE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6217920" y="1444752"/>
            <a:ext cx="2423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₹999–1999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6217920" y="2011680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per month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" name="Google Shape;275;p7"/>
          <p:cNvCxnSpPr/>
          <p:nvPr/>
        </p:nvCxnSpPr>
        <p:spPr>
          <a:xfrm>
            <a:off x="6217920" y="2304288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6" name="Google Shape;276;p7"/>
          <p:cNvSpPr/>
          <p:nvPr/>
        </p:nvSpPr>
        <p:spPr>
          <a:xfrm>
            <a:off x="6217920" y="2395728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E7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A9E75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05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Expert 7-day programs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6217920" y="2816352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E7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A9E75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05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Conflict resolution AI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6217920" y="3236976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E7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A9E75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05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Therapist sessions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6217920" y="365760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E7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A9E75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05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Priority AI assistance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411480" y="4590288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Additional revenue streams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411480" y="4773168"/>
            <a:ext cx="8321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Expert therapist sessions (marketplace)   •   Corporate wellness packages (B2B)   •   Couple workshops &amp; webinars   •   White-label for wedding industry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8"/>
          <p:cNvSpPr/>
          <p:nvPr/>
        </p:nvSpPr>
        <p:spPr>
          <a:xfrm>
            <a:off x="320040" y="164592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LDA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BEAF0"/>
          </a:solidFill>
          <a:ln cap="flat" cmpd="sng" w="12700">
            <a:solidFill>
              <a:srgbClr val="FB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365760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Let's Date Again  |  Confidential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411480" y="20116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GO-TO-MARKET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411480" y="4754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India-first. Trust-first. Scale second.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411480" y="1051560"/>
            <a:ext cx="8321040" cy="1261872"/>
          </a:xfrm>
          <a:prstGeom prst="rect">
            <a:avLst/>
          </a:prstGeom>
          <a:solidFill>
            <a:srgbClr val="FBEAF0"/>
          </a:solidFill>
          <a:ln cap="flat" cmpd="sng" w="12700">
            <a:solidFill>
              <a:srgbClr val="FB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8"/>
          <p:cNvSpPr/>
          <p:nvPr/>
        </p:nvSpPr>
        <p:spPr>
          <a:xfrm>
            <a:off x="411480" y="1051560"/>
            <a:ext cx="82296" cy="1261872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594360" y="1106424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PHASE 1 — MONTHS 0–6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594360" y="13258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Organic Credibility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594360" y="1627632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→  Instagram reels: relationship tips, couple challenges, before/after communication stories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594360" y="1938528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→  YouTube shorts &amp; podcasts with therapists positioning app as daily tool, not crisis tool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4663440" y="1627632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→  Beta program: 500 pilot couples in Bengaluru, Mumbai, Delhi — deep feedback loop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4663440" y="1938528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→  Influencer couples (micro, 50K–200K) — authentic endorsements drive trust over vanity reach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411480" y="2423160"/>
            <a:ext cx="8321040" cy="1261872"/>
          </a:xfrm>
          <a:prstGeom prst="rect">
            <a:avLst/>
          </a:prstGeom>
          <a:solidFill>
            <a:srgbClr val="E1F5EE"/>
          </a:solidFill>
          <a:ln cap="flat" cmpd="sng" w="12700">
            <a:solidFill>
              <a:srgbClr val="E1F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8"/>
          <p:cNvSpPr/>
          <p:nvPr/>
        </p:nvSpPr>
        <p:spPr>
          <a:xfrm>
            <a:off x="411480" y="2423160"/>
            <a:ext cx="82296" cy="1261872"/>
          </a:xfrm>
          <a:prstGeom prst="rect">
            <a:avLst/>
          </a:prstGeom>
          <a:solidFill>
            <a:srgbClr val="0A9E75"/>
          </a:solidFill>
          <a:ln cap="flat" cmpd="sng" w="12700">
            <a:solidFill>
              <a:srgbClr val="0A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8"/>
          <p:cNvSpPr/>
          <p:nvPr/>
        </p:nvSpPr>
        <p:spPr>
          <a:xfrm>
            <a:off x="594360" y="2478024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E7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A9E75"/>
                </a:solidFill>
                <a:latin typeface="Calibri"/>
                <a:ea typeface="Calibri"/>
                <a:cs typeface="Calibri"/>
                <a:sym typeface="Calibri"/>
              </a:rPr>
              <a:t>PHASE 2 — MONTHS 6–18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594360" y="26974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Credibility + Conversion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594360" y="2999232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→  Therapist partnership program: listed therapists refer app as homework between sessions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594360" y="3310128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→  Matrimony.com &amp; Shaadi.com co-marketing: capture newly married couples at peak motivation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4663440" y="2999232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→  PR: 'Divorce prevention' angle in HT, TOI, Mint — strong earned media play for this category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4663440" y="3310128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→  Referral loop: invite your partner → couples who recruit couples = zero-cost growth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411480" y="3794760"/>
            <a:ext cx="8321040" cy="1261872"/>
          </a:xfrm>
          <a:prstGeom prst="rect">
            <a:avLst/>
          </a:prstGeom>
          <a:solidFill>
            <a:srgbClr val="FFF4DC"/>
          </a:solidFill>
          <a:ln cap="flat" cmpd="sng" w="12700">
            <a:solidFill>
              <a:srgbClr val="FFF4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8"/>
          <p:cNvSpPr/>
          <p:nvPr/>
        </p:nvSpPr>
        <p:spPr>
          <a:xfrm>
            <a:off x="411480" y="3794760"/>
            <a:ext cx="82296" cy="1261872"/>
          </a:xfrm>
          <a:prstGeom prst="rect">
            <a:avLst/>
          </a:prstGeom>
          <a:solidFill>
            <a:srgbClr val="D4870A"/>
          </a:solidFill>
          <a:ln cap="flat" cmpd="sng" w="12700">
            <a:solidFill>
              <a:srgbClr val="D487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8"/>
          <p:cNvSpPr/>
          <p:nvPr/>
        </p:nvSpPr>
        <p:spPr>
          <a:xfrm>
            <a:off x="594360" y="3849624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870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4870A"/>
                </a:solidFill>
                <a:latin typeface="Calibri"/>
                <a:ea typeface="Calibri"/>
                <a:cs typeface="Calibri"/>
                <a:sym typeface="Calibri"/>
              </a:rPr>
              <a:t>PHASE 3 — MONTH 18+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594360" y="40690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B2B + International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594360" y="4370832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→  Corporate wellness: sell couple subscriptions as employee benefits (HR gifting, Diwali packages)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594360" y="4681728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→  Expand to NRI market in UK, US, Canada, UAE — same cultural context, higher paying capacity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4663440" y="4370832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→  Southeast Asia pilot: Indonesia, Philippines — high marriage rates, mobile-first, underserved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4663440" y="4681728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→  White-label to wedding industry: hotels, planners, caterers bundle app as honeymoon gift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457200" y="2286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INTERNATIONAL EXPANSION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From India to the world — the couple wellness gap is global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411480" y="1188720"/>
            <a:ext cx="8321040" cy="804672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12700">
            <a:solidFill>
              <a:srgbClr val="C44569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9"/>
          <p:cNvSpPr/>
          <p:nvPr/>
        </p:nvSpPr>
        <p:spPr>
          <a:xfrm>
            <a:off x="411480" y="1188720"/>
            <a:ext cx="64008" cy="804672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576072" y="125272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NRI Diaspora (US/UK/UAE/CA)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576072" y="164592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8M+ NRI couples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0" name="Google Shape;330;p9"/>
          <p:cNvCxnSpPr/>
          <p:nvPr/>
        </p:nvCxnSpPr>
        <p:spPr>
          <a:xfrm>
            <a:off x="3063240" y="1280160"/>
            <a:ext cx="0" cy="64008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p9"/>
          <p:cNvSpPr/>
          <p:nvPr/>
        </p:nvSpPr>
        <p:spPr>
          <a:xfrm>
            <a:off x="3200400" y="1280160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High income, same cultural context, English-ready. No competitor addressing post-arranged-marriage wellness in diaspora.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7680960" y="1371600"/>
            <a:ext cx="1005840" cy="365760"/>
          </a:xfrm>
          <a:prstGeom prst="roundRect">
            <a:avLst>
              <a:gd fmla="val 20000" name="adj"/>
            </a:avLst>
          </a:prstGeom>
          <a:solidFill>
            <a:srgbClr val="C44569">
              <a:alpha val="25098"/>
            </a:srgbClr>
          </a:solidFill>
          <a:ln cap="flat" cmpd="sng" w="12700">
            <a:solidFill>
              <a:srgbClr val="C44569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7680960" y="137160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Month 6–12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411480" y="2103120"/>
            <a:ext cx="8321040" cy="804672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12700">
            <a:solidFill>
              <a:srgbClr val="C44569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411480" y="2103120"/>
            <a:ext cx="64008" cy="804672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576072" y="216712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Southeast Asia (Indonesia, Philippines)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576072" y="256032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35M+ married couples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8" name="Google Shape;338;p9"/>
          <p:cNvCxnSpPr/>
          <p:nvPr/>
        </p:nvCxnSpPr>
        <p:spPr>
          <a:xfrm>
            <a:off x="3063240" y="2194560"/>
            <a:ext cx="0" cy="64008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p9"/>
          <p:cNvSpPr/>
          <p:nvPr/>
        </p:nvSpPr>
        <p:spPr>
          <a:xfrm>
            <a:off x="3200400" y="2194560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Highest marriage rates in Asia, mobile-first, culturally conservative — exact same problem set as India.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7680960" y="2286000"/>
            <a:ext cx="1005840" cy="365760"/>
          </a:xfrm>
          <a:prstGeom prst="roundRect">
            <a:avLst>
              <a:gd fmla="val 20000" name="adj"/>
            </a:avLst>
          </a:prstGeom>
          <a:solidFill>
            <a:srgbClr val="C44569">
              <a:alpha val="25098"/>
            </a:srgbClr>
          </a:solidFill>
          <a:ln cap="flat" cmpd="sng" w="12700">
            <a:solidFill>
              <a:srgbClr val="C44569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7680960" y="228600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Month 12–18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411480" y="3017520"/>
            <a:ext cx="8321040" cy="804672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12700">
            <a:solidFill>
              <a:srgbClr val="C44569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9"/>
          <p:cNvSpPr/>
          <p:nvPr/>
        </p:nvSpPr>
        <p:spPr>
          <a:xfrm>
            <a:off x="411480" y="3017520"/>
            <a:ext cx="64008" cy="804672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576072" y="308152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Middle East (UAE, Saudi Arabia)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576072" y="347472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12M+ couples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6" name="Google Shape;346;p9"/>
          <p:cNvCxnSpPr/>
          <p:nvPr/>
        </p:nvCxnSpPr>
        <p:spPr>
          <a:xfrm>
            <a:off x="3063240" y="3108960"/>
            <a:ext cx="0" cy="64008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7" name="Google Shape;347;p9"/>
          <p:cNvSpPr/>
          <p:nvPr/>
        </p:nvSpPr>
        <p:spPr>
          <a:xfrm>
            <a:off x="3200400" y="3108960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Strong privacy demand, digital penetration, arranged marriage culture. Secular couples in conservative societies underserved.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7680960" y="3200400"/>
            <a:ext cx="1005840" cy="365760"/>
          </a:xfrm>
          <a:prstGeom prst="roundRect">
            <a:avLst>
              <a:gd fmla="val 20000" name="adj"/>
            </a:avLst>
          </a:prstGeom>
          <a:solidFill>
            <a:srgbClr val="C44569">
              <a:alpha val="25098"/>
            </a:srgbClr>
          </a:solidFill>
          <a:ln cap="flat" cmpd="sng" w="12700">
            <a:solidFill>
              <a:srgbClr val="C44569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9"/>
          <p:cNvSpPr/>
          <p:nvPr/>
        </p:nvSpPr>
        <p:spPr>
          <a:xfrm>
            <a:off x="7680960" y="320040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Month 18–24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411480" y="3931920"/>
            <a:ext cx="8321040" cy="804672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12700">
            <a:solidFill>
              <a:srgbClr val="C44569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9"/>
          <p:cNvSpPr/>
          <p:nvPr/>
        </p:nvSpPr>
        <p:spPr>
          <a:xfrm>
            <a:off x="411480" y="3931920"/>
            <a:ext cx="64008" cy="804672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9"/>
          <p:cNvSpPr/>
          <p:nvPr/>
        </p:nvSpPr>
        <p:spPr>
          <a:xfrm>
            <a:off x="576072" y="399592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East Asia (Japan, South Korea)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576072" y="438912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30M+ couples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4" name="Google Shape;354;p9"/>
          <p:cNvCxnSpPr/>
          <p:nvPr/>
        </p:nvCxnSpPr>
        <p:spPr>
          <a:xfrm>
            <a:off x="3063240" y="4023360"/>
            <a:ext cx="0" cy="64008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5" name="Google Shape;355;p9"/>
          <p:cNvSpPr/>
          <p:nvPr/>
        </p:nvSpPr>
        <p:spPr>
          <a:xfrm>
            <a:off x="3200400" y="4023360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40% drop in South Korean marriages; Japan government funds dating. Acute loneliness crisis. Premium price tolerance high.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7680960" y="4114800"/>
            <a:ext cx="1005840" cy="365760"/>
          </a:xfrm>
          <a:prstGeom prst="roundRect">
            <a:avLst>
              <a:gd fmla="val 20000" name="adj"/>
            </a:avLst>
          </a:prstGeom>
          <a:solidFill>
            <a:srgbClr val="C44569">
              <a:alpha val="25098"/>
            </a:srgbClr>
          </a:solidFill>
          <a:ln cap="flat" cmpd="sng" w="12700">
            <a:solidFill>
              <a:srgbClr val="C44569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9"/>
          <p:cNvSpPr/>
          <p:nvPr/>
        </p:nvSpPr>
        <p:spPr>
          <a:xfrm>
            <a:off x="7680960" y="411480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Month 24–36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411480" y="4681728"/>
            <a:ext cx="8321040" cy="274320"/>
          </a:xfrm>
          <a:prstGeom prst="rect">
            <a:avLst/>
          </a:prstGeom>
          <a:solidFill>
            <a:srgbClr val="C44569">
              <a:alpha val="20000"/>
            </a:srgbClr>
          </a:solidFill>
          <a:ln cap="flat" cmpd="sng" w="12700">
            <a:solidFill>
              <a:srgbClr val="C44569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9"/>
          <p:cNvSpPr/>
          <p:nvPr/>
        </p:nvSpPr>
        <p:spPr>
          <a:xfrm>
            <a:off x="548640" y="4700016"/>
            <a:ext cx="8046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Localization strategy: multilingual AI models + cultural prompt packs + local therapist networks. Same core platform, different emotional vocabulary.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0"/>
          <p:cNvSpPr/>
          <p:nvPr/>
        </p:nvSpPr>
        <p:spPr>
          <a:xfrm>
            <a:off x="320040" y="164592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LDA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BEAF0"/>
          </a:solidFill>
          <a:ln cap="flat" cmpd="sng" w="12700">
            <a:solidFill>
              <a:srgbClr val="FB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0"/>
          <p:cNvSpPr/>
          <p:nvPr/>
        </p:nvSpPr>
        <p:spPr>
          <a:xfrm>
            <a:off x="365760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Let's Date Again  |  Confidential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411480" y="20116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COMPETITIVE LANDSCAPE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411480" y="4754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No one owns this category. Yet.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411480" y="1097280"/>
            <a:ext cx="2377440" cy="384048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0"/>
          <p:cNvSpPr/>
          <p:nvPr/>
        </p:nvSpPr>
        <p:spPr>
          <a:xfrm>
            <a:off x="484632" y="109728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Competitor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2788920" y="1097280"/>
            <a:ext cx="1188720" cy="384048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0"/>
          <p:cNvSpPr/>
          <p:nvPr/>
        </p:nvSpPr>
        <p:spPr>
          <a:xfrm>
            <a:off x="2862072" y="1097280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Daily Habit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3977640" y="1097280"/>
            <a:ext cx="1188720" cy="384048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0"/>
          <p:cNvSpPr/>
          <p:nvPr/>
        </p:nvSpPr>
        <p:spPr>
          <a:xfrm>
            <a:off x="4050792" y="1097280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Emotional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5166360" y="1097280"/>
            <a:ext cx="1005840" cy="384048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0"/>
          <p:cNvSpPr/>
          <p:nvPr/>
        </p:nvSpPr>
        <p:spPr>
          <a:xfrm>
            <a:off x="5239512" y="1097280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India-Fit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6172200" y="1097280"/>
            <a:ext cx="1097280" cy="384048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0"/>
          <p:cNvSpPr/>
          <p:nvPr/>
        </p:nvSpPr>
        <p:spPr>
          <a:xfrm>
            <a:off x="6245352" y="1097280"/>
            <a:ext cx="1005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Couple-Only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7269480" y="1097280"/>
            <a:ext cx="1005840" cy="384048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0"/>
          <p:cNvSpPr/>
          <p:nvPr/>
        </p:nvSpPr>
        <p:spPr>
          <a:xfrm>
            <a:off x="7342632" y="1097280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Affordable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411480" y="1481328"/>
            <a:ext cx="2377440" cy="457200"/>
          </a:xfrm>
          <a:prstGeom prst="rect">
            <a:avLst/>
          </a:prstGeom>
          <a:solidFill>
            <a:srgbClr val="FBEAF0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0"/>
          <p:cNvSpPr/>
          <p:nvPr/>
        </p:nvSpPr>
        <p:spPr>
          <a:xfrm>
            <a:off x="484632" y="148132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Let's Date Again 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2788920" y="1481328"/>
            <a:ext cx="1188720" cy="457200"/>
          </a:xfrm>
          <a:prstGeom prst="rect">
            <a:avLst/>
          </a:prstGeom>
          <a:solidFill>
            <a:srgbClr val="FEF3F7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0"/>
          <p:cNvSpPr/>
          <p:nvPr/>
        </p:nvSpPr>
        <p:spPr>
          <a:xfrm>
            <a:off x="2862072" y="1481328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E7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A9E75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3977640" y="1481328"/>
            <a:ext cx="1188720" cy="457200"/>
          </a:xfrm>
          <a:prstGeom prst="rect">
            <a:avLst/>
          </a:prstGeom>
          <a:solidFill>
            <a:srgbClr val="FEF3F7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0"/>
          <p:cNvSpPr/>
          <p:nvPr/>
        </p:nvSpPr>
        <p:spPr>
          <a:xfrm>
            <a:off x="4050792" y="1481328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E7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A9E75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5166360" y="1481328"/>
            <a:ext cx="1005840" cy="457200"/>
          </a:xfrm>
          <a:prstGeom prst="rect">
            <a:avLst/>
          </a:prstGeom>
          <a:solidFill>
            <a:srgbClr val="FEF3F7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0"/>
          <p:cNvSpPr/>
          <p:nvPr/>
        </p:nvSpPr>
        <p:spPr>
          <a:xfrm>
            <a:off x="5239512" y="148132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E7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A9E75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6172200" y="1481328"/>
            <a:ext cx="1097280" cy="457200"/>
          </a:xfrm>
          <a:prstGeom prst="rect">
            <a:avLst/>
          </a:prstGeom>
          <a:solidFill>
            <a:srgbClr val="FEF3F7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0"/>
          <p:cNvSpPr/>
          <p:nvPr/>
        </p:nvSpPr>
        <p:spPr>
          <a:xfrm>
            <a:off x="6245352" y="1481328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E7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A9E75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7269480" y="1481328"/>
            <a:ext cx="1005840" cy="457200"/>
          </a:xfrm>
          <a:prstGeom prst="rect">
            <a:avLst/>
          </a:prstGeom>
          <a:solidFill>
            <a:srgbClr val="FEF3F7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0"/>
          <p:cNvSpPr/>
          <p:nvPr/>
        </p:nvSpPr>
        <p:spPr>
          <a:xfrm>
            <a:off x="7342632" y="148132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E7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A9E75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411480" y="1956816"/>
            <a:ext cx="23774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0"/>
          <p:cNvSpPr/>
          <p:nvPr/>
        </p:nvSpPr>
        <p:spPr>
          <a:xfrm>
            <a:off x="484632" y="1956816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Between (app)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2788920" y="1956816"/>
            <a:ext cx="11887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0"/>
          <p:cNvSpPr/>
          <p:nvPr/>
        </p:nvSpPr>
        <p:spPr>
          <a:xfrm>
            <a:off x="2862072" y="1956816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3977640" y="1956816"/>
            <a:ext cx="11887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0"/>
          <p:cNvSpPr/>
          <p:nvPr/>
        </p:nvSpPr>
        <p:spPr>
          <a:xfrm>
            <a:off x="4050792" y="1956816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5166360" y="1956816"/>
            <a:ext cx="10058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0"/>
          <p:cNvSpPr/>
          <p:nvPr/>
        </p:nvSpPr>
        <p:spPr>
          <a:xfrm>
            <a:off x="5239512" y="1956816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6172200" y="1956816"/>
            <a:ext cx="109728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0"/>
          <p:cNvSpPr/>
          <p:nvPr/>
        </p:nvSpPr>
        <p:spPr>
          <a:xfrm>
            <a:off x="6245352" y="1956816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E7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A9E75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7269480" y="1956816"/>
            <a:ext cx="10058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0"/>
          <p:cNvSpPr/>
          <p:nvPr/>
        </p:nvSpPr>
        <p:spPr>
          <a:xfrm>
            <a:off x="7342632" y="1956816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E7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A9E75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411480" y="2432304"/>
            <a:ext cx="2377440" cy="457200"/>
          </a:xfrm>
          <a:prstGeom prst="rect">
            <a:avLst/>
          </a:prstGeom>
          <a:solidFill>
            <a:srgbClr val="F4F4F8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0"/>
          <p:cNvSpPr/>
          <p:nvPr/>
        </p:nvSpPr>
        <p:spPr>
          <a:xfrm>
            <a:off x="484632" y="2432304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BetterHelp / Regain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2788920" y="2432304"/>
            <a:ext cx="1188720" cy="457200"/>
          </a:xfrm>
          <a:prstGeom prst="rect">
            <a:avLst/>
          </a:prstGeom>
          <a:solidFill>
            <a:srgbClr val="F4F4F8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0"/>
          <p:cNvSpPr/>
          <p:nvPr/>
        </p:nvSpPr>
        <p:spPr>
          <a:xfrm>
            <a:off x="2862072" y="2432304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3977640" y="2432304"/>
            <a:ext cx="1188720" cy="457200"/>
          </a:xfrm>
          <a:prstGeom prst="rect">
            <a:avLst/>
          </a:prstGeom>
          <a:solidFill>
            <a:srgbClr val="F4F4F8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0"/>
          <p:cNvSpPr/>
          <p:nvPr/>
        </p:nvSpPr>
        <p:spPr>
          <a:xfrm>
            <a:off x="4050792" y="2432304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A3A4A"/>
                </a:solidFill>
                <a:latin typeface="Arial"/>
                <a:ea typeface="Arial"/>
                <a:cs typeface="Arial"/>
                <a:sym typeface="Arial"/>
              </a:rPr>
              <a:t>Partial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5166360" y="2432304"/>
            <a:ext cx="1005840" cy="457200"/>
          </a:xfrm>
          <a:prstGeom prst="rect">
            <a:avLst/>
          </a:prstGeom>
          <a:solidFill>
            <a:srgbClr val="F4F4F8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0"/>
          <p:cNvSpPr/>
          <p:nvPr/>
        </p:nvSpPr>
        <p:spPr>
          <a:xfrm>
            <a:off x="5239512" y="2432304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0"/>
          <p:cNvSpPr/>
          <p:nvPr/>
        </p:nvSpPr>
        <p:spPr>
          <a:xfrm>
            <a:off x="6172200" y="2432304"/>
            <a:ext cx="1097280" cy="457200"/>
          </a:xfrm>
          <a:prstGeom prst="rect">
            <a:avLst/>
          </a:prstGeom>
          <a:solidFill>
            <a:srgbClr val="F4F4F8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0"/>
          <p:cNvSpPr/>
          <p:nvPr/>
        </p:nvSpPr>
        <p:spPr>
          <a:xfrm>
            <a:off x="6245352" y="2432304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A3A4A"/>
                </a:solidFill>
                <a:latin typeface="Arial"/>
                <a:ea typeface="Arial"/>
                <a:cs typeface="Arial"/>
                <a:sym typeface="Arial"/>
              </a:rPr>
              <a:t>Partial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7269480" y="2432304"/>
            <a:ext cx="1005840" cy="457200"/>
          </a:xfrm>
          <a:prstGeom prst="rect">
            <a:avLst/>
          </a:prstGeom>
          <a:solidFill>
            <a:srgbClr val="F4F4F8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0"/>
          <p:cNvSpPr/>
          <p:nvPr/>
        </p:nvSpPr>
        <p:spPr>
          <a:xfrm>
            <a:off x="7342632" y="2432304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411480" y="2907792"/>
            <a:ext cx="23774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0"/>
          <p:cNvSpPr/>
          <p:nvPr/>
        </p:nvSpPr>
        <p:spPr>
          <a:xfrm>
            <a:off x="484632" y="2907792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Dating Apps (Tinder etc)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0"/>
          <p:cNvSpPr/>
          <p:nvPr/>
        </p:nvSpPr>
        <p:spPr>
          <a:xfrm>
            <a:off x="2788920" y="2907792"/>
            <a:ext cx="11887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0"/>
          <p:cNvSpPr/>
          <p:nvPr/>
        </p:nvSpPr>
        <p:spPr>
          <a:xfrm>
            <a:off x="2862072" y="2907792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3977640" y="2907792"/>
            <a:ext cx="11887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0"/>
          <p:cNvSpPr/>
          <p:nvPr/>
        </p:nvSpPr>
        <p:spPr>
          <a:xfrm>
            <a:off x="4050792" y="2907792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5166360" y="2907792"/>
            <a:ext cx="10058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0"/>
          <p:cNvSpPr/>
          <p:nvPr/>
        </p:nvSpPr>
        <p:spPr>
          <a:xfrm>
            <a:off x="5239512" y="2907792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6172200" y="2907792"/>
            <a:ext cx="109728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0"/>
          <p:cNvSpPr/>
          <p:nvPr/>
        </p:nvSpPr>
        <p:spPr>
          <a:xfrm>
            <a:off x="6245352" y="2907792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7269480" y="2907792"/>
            <a:ext cx="10058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0"/>
          <p:cNvSpPr/>
          <p:nvPr/>
        </p:nvSpPr>
        <p:spPr>
          <a:xfrm>
            <a:off x="7342632" y="2907792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A3A4A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0"/>
          <p:cNvSpPr/>
          <p:nvPr/>
        </p:nvSpPr>
        <p:spPr>
          <a:xfrm>
            <a:off x="411480" y="3383280"/>
            <a:ext cx="2377440" cy="457200"/>
          </a:xfrm>
          <a:prstGeom prst="rect">
            <a:avLst/>
          </a:prstGeom>
          <a:solidFill>
            <a:srgbClr val="F4F4F8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0"/>
          <p:cNvSpPr/>
          <p:nvPr/>
        </p:nvSpPr>
        <p:spPr>
          <a:xfrm>
            <a:off x="484632" y="338328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Generic Meditation Apps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0"/>
          <p:cNvSpPr/>
          <p:nvPr/>
        </p:nvSpPr>
        <p:spPr>
          <a:xfrm>
            <a:off x="2788920" y="3383280"/>
            <a:ext cx="1188720" cy="457200"/>
          </a:xfrm>
          <a:prstGeom prst="rect">
            <a:avLst/>
          </a:prstGeom>
          <a:solidFill>
            <a:srgbClr val="F4F4F8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0"/>
          <p:cNvSpPr/>
          <p:nvPr/>
        </p:nvSpPr>
        <p:spPr>
          <a:xfrm>
            <a:off x="2862072" y="338328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E7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A9E75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0"/>
          <p:cNvSpPr/>
          <p:nvPr/>
        </p:nvSpPr>
        <p:spPr>
          <a:xfrm>
            <a:off x="3977640" y="3383280"/>
            <a:ext cx="1188720" cy="457200"/>
          </a:xfrm>
          <a:prstGeom prst="rect">
            <a:avLst/>
          </a:prstGeom>
          <a:solidFill>
            <a:srgbClr val="F4F4F8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0"/>
          <p:cNvSpPr/>
          <p:nvPr/>
        </p:nvSpPr>
        <p:spPr>
          <a:xfrm>
            <a:off x="4050792" y="338328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0"/>
          <p:cNvSpPr/>
          <p:nvPr/>
        </p:nvSpPr>
        <p:spPr>
          <a:xfrm>
            <a:off x="5166360" y="3383280"/>
            <a:ext cx="1005840" cy="457200"/>
          </a:xfrm>
          <a:prstGeom prst="rect">
            <a:avLst/>
          </a:prstGeom>
          <a:solidFill>
            <a:srgbClr val="F4F4F8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0"/>
          <p:cNvSpPr/>
          <p:nvPr/>
        </p:nvSpPr>
        <p:spPr>
          <a:xfrm>
            <a:off x="5239512" y="338328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0"/>
          <p:cNvSpPr/>
          <p:nvPr/>
        </p:nvSpPr>
        <p:spPr>
          <a:xfrm>
            <a:off x="6172200" y="3383280"/>
            <a:ext cx="1097280" cy="457200"/>
          </a:xfrm>
          <a:prstGeom prst="rect">
            <a:avLst/>
          </a:prstGeom>
          <a:solidFill>
            <a:srgbClr val="F4F4F8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0"/>
          <p:cNvSpPr/>
          <p:nvPr/>
        </p:nvSpPr>
        <p:spPr>
          <a:xfrm>
            <a:off x="6245352" y="338328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0"/>
          <p:cNvSpPr/>
          <p:nvPr/>
        </p:nvSpPr>
        <p:spPr>
          <a:xfrm>
            <a:off x="7269480" y="3383280"/>
            <a:ext cx="1005840" cy="457200"/>
          </a:xfrm>
          <a:prstGeom prst="rect">
            <a:avLst/>
          </a:prstGeom>
          <a:solidFill>
            <a:srgbClr val="F4F4F8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0"/>
          <p:cNvSpPr/>
          <p:nvPr/>
        </p:nvSpPr>
        <p:spPr>
          <a:xfrm>
            <a:off x="7342632" y="338328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E7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A9E75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0"/>
          <p:cNvSpPr/>
          <p:nvPr/>
        </p:nvSpPr>
        <p:spPr>
          <a:xfrm>
            <a:off x="411480" y="3858768"/>
            <a:ext cx="23774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0"/>
          <p:cNvSpPr/>
          <p:nvPr/>
        </p:nvSpPr>
        <p:spPr>
          <a:xfrm>
            <a:off x="484632" y="385876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Marriage.com / Gottman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0"/>
          <p:cNvSpPr/>
          <p:nvPr/>
        </p:nvSpPr>
        <p:spPr>
          <a:xfrm>
            <a:off x="2788920" y="3858768"/>
            <a:ext cx="11887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0"/>
          <p:cNvSpPr/>
          <p:nvPr/>
        </p:nvSpPr>
        <p:spPr>
          <a:xfrm>
            <a:off x="2862072" y="3858768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0"/>
          <p:cNvSpPr/>
          <p:nvPr/>
        </p:nvSpPr>
        <p:spPr>
          <a:xfrm>
            <a:off x="3977640" y="3858768"/>
            <a:ext cx="11887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0"/>
          <p:cNvSpPr/>
          <p:nvPr/>
        </p:nvSpPr>
        <p:spPr>
          <a:xfrm>
            <a:off x="4050792" y="3858768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0"/>
          <p:cNvSpPr/>
          <p:nvPr/>
        </p:nvSpPr>
        <p:spPr>
          <a:xfrm>
            <a:off x="5166360" y="3858768"/>
            <a:ext cx="10058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0"/>
          <p:cNvSpPr/>
          <p:nvPr/>
        </p:nvSpPr>
        <p:spPr>
          <a:xfrm>
            <a:off x="5239512" y="385876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0"/>
          <p:cNvSpPr/>
          <p:nvPr/>
        </p:nvSpPr>
        <p:spPr>
          <a:xfrm>
            <a:off x="6172200" y="3858768"/>
            <a:ext cx="109728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0"/>
          <p:cNvSpPr/>
          <p:nvPr/>
        </p:nvSpPr>
        <p:spPr>
          <a:xfrm>
            <a:off x="6245352" y="3858768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0"/>
          <p:cNvSpPr/>
          <p:nvPr/>
        </p:nvSpPr>
        <p:spPr>
          <a:xfrm>
            <a:off x="7269480" y="3858768"/>
            <a:ext cx="10058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0"/>
          <p:cNvSpPr/>
          <p:nvPr/>
        </p:nvSpPr>
        <p:spPr>
          <a:xfrm>
            <a:off x="7342632" y="385876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0"/>
          <p:cNvSpPr/>
          <p:nvPr/>
        </p:nvSpPr>
        <p:spPr>
          <a:xfrm>
            <a:off x="411480" y="4572000"/>
            <a:ext cx="8321040" cy="320040"/>
          </a:xfrm>
          <a:prstGeom prst="rect">
            <a:avLst/>
          </a:prstGeom>
          <a:solidFill>
            <a:srgbClr val="FBEAF0"/>
          </a:solidFill>
          <a:ln cap="flat" cmpd="sng" w="12700">
            <a:solidFill>
              <a:srgbClr val="FB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0"/>
          <p:cNvSpPr/>
          <p:nvPr/>
        </p:nvSpPr>
        <p:spPr>
          <a:xfrm>
            <a:off x="548640" y="4608576"/>
            <a:ext cx="8046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The only player combining daily habit formation + AI emotional intelligence + India-specific cultural context + affordable pricing. A 0-to-1 category creation opportunity.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8F5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1"/>
          <p:cNvSpPr/>
          <p:nvPr/>
        </p:nvSpPr>
        <p:spPr>
          <a:xfrm>
            <a:off x="320040" y="164592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LDA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BEAF0"/>
          </a:solidFill>
          <a:ln cap="flat" cmpd="sng" w="12700">
            <a:solidFill>
              <a:srgbClr val="FB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1"/>
          <p:cNvSpPr/>
          <p:nvPr/>
        </p:nvSpPr>
        <p:spPr>
          <a:xfrm>
            <a:off x="365760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Let's Date Again  |  Confidential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1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1"/>
          <p:cNvSpPr/>
          <p:nvPr/>
        </p:nvSpPr>
        <p:spPr>
          <a:xfrm>
            <a:off x="411480" y="20116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ROADMAP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1"/>
          <p:cNvSpPr/>
          <p:nvPr/>
        </p:nvSpPr>
        <p:spPr>
          <a:xfrm>
            <a:off x="411480" y="4754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From MVP to market leader in 36 months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8" name="Google Shape;468;p11"/>
          <p:cNvCxnSpPr/>
          <p:nvPr/>
        </p:nvCxnSpPr>
        <p:spPr>
          <a:xfrm>
            <a:off x="777240" y="1737360"/>
            <a:ext cx="7772400" cy="0"/>
          </a:xfrm>
          <a:prstGeom prst="straightConnector1">
            <a:avLst/>
          </a:prstGeom>
          <a:noFill/>
          <a:ln cap="flat" cmpd="sng" w="19050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9" name="Google Shape;469;p11"/>
          <p:cNvSpPr/>
          <p:nvPr/>
        </p:nvSpPr>
        <p:spPr>
          <a:xfrm>
            <a:off x="960120" y="1572768"/>
            <a:ext cx="329184" cy="329184"/>
          </a:xfrm>
          <a:prstGeom prst="ellipse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1"/>
          <p:cNvSpPr/>
          <p:nvPr/>
        </p:nvSpPr>
        <p:spPr>
          <a:xfrm>
            <a:off x="457200" y="11155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Q1–Q2 2025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1"/>
          <p:cNvSpPr/>
          <p:nvPr/>
        </p:nvSpPr>
        <p:spPr>
          <a:xfrm>
            <a:off x="457200" y="1993392"/>
            <a:ext cx="2011680" cy="2651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1"/>
          <p:cNvSpPr/>
          <p:nvPr/>
        </p:nvSpPr>
        <p:spPr>
          <a:xfrm>
            <a:off x="457200" y="1993392"/>
            <a:ext cx="2011680" cy="64008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1"/>
          <p:cNvSpPr/>
          <p:nvPr/>
        </p:nvSpPr>
        <p:spPr>
          <a:xfrm>
            <a:off x="566928" y="2066544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MVP Launch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1"/>
          <p:cNvSpPr/>
          <p:nvPr/>
        </p:nvSpPr>
        <p:spPr>
          <a:xfrm>
            <a:off x="566928" y="24231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Core habit loop live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1"/>
          <p:cNvSpPr/>
          <p:nvPr/>
        </p:nvSpPr>
        <p:spPr>
          <a:xfrm>
            <a:off x="566928" y="2916936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500 beta couples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1"/>
          <p:cNvSpPr/>
          <p:nvPr/>
        </p:nvSpPr>
        <p:spPr>
          <a:xfrm>
            <a:off x="566928" y="341071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Emotional drop box + AI suggestions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1"/>
          <p:cNvSpPr/>
          <p:nvPr/>
        </p:nvSpPr>
        <p:spPr>
          <a:xfrm>
            <a:off x="566928" y="390448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iOS + Android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1"/>
          <p:cNvSpPr/>
          <p:nvPr/>
        </p:nvSpPr>
        <p:spPr>
          <a:xfrm>
            <a:off x="3108960" y="1572768"/>
            <a:ext cx="329184" cy="329184"/>
          </a:xfrm>
          <a:prstGeom prst="ellipse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1"/>
          <p:cNvSpPr/>
          <p:nvPr/>
        </p:nvSpPr>
        <p:spPr>
          <a:xfrm>
            <a:off x="2606040" y="11155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Q3–Q4 2025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1"/>
          <p:cNvSpPr/>
          <p:nvPr/>
        </p:nvSpPr>
        <p:spPr>
          <a:xfrm>
            <a:off x="2606040" y="1993392"/>
            <a:ext cx="2011680" cy="2651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1"/>
          <p:cNvSpPr/>
          <p:nvPr/>
        </p:nvSpPr>
        <p:spPr>
          <a:xfrm>
            <a:off x="2606040" y="1993392"/>
            <a:ext cx="2011680" cy="64008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1"/>
          <p:cNvSpPr/>
          <p:nvPr/>
        </p:nvSpPr>
        <p:spPr>
          <a:xfrm>
            <a:off x="2715768" y="2066544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Product-Market Fit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1"/>
          <p:cNvSpPr/>
          <p:nvPr/>
        </p:nvSpPr>
        <p:spPr>
          <a:xfrm>
            <a:off x="2715768" y="24231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10,000 active couples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1"/>
          <p:cNvSpPr/>
          <p:nvPr/>
        </p:nvSpPr>
        <p:spPr>
          <a:xfrm>
            <a:off x="2715768" y="2916936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Premium subscription launch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1"/>
          <p:cNvSpPr/>
          <p:nvPr/>
        </p:nvSpPr>
        <p:spPr>
          <a:xfrm>
            <a:off x="2715768" y="341071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Relationship dashboard v1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1"/>
          <p:cNvSpPr/>
          <p:nvPr/>
        </p:nvSpPr>
        <p:spPr>
          <a:xfrm>
            <a:off x="2715768" y="390448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First therapist partnerships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1"/>
          <p:cNvSpPr/>
          <p:nvPr/>
        </p:nvSpPr>
        <p:spPr>
          <a:xfrm>
            <a:off x="5257800" y="1572768"/>
            <a:ext cx="329184" cy="329184"/>
          </a:xfrm>
          <a:prstGeom prst="ellipse">
            <a:avLst/>
          </a:prstGeom>
          <a:solidFill>
            <a:srgbClr val="E8A0B4"/>
          </a:solidFill>
          <a:ln cap="flat" cmpd="sng" w="12700">
            <a:solidFill>
              <a:srgbClr val="E8A0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1"/>
          <p:cNvSpPr/>
          <p:nvPr/>
        </p:nvSpPr>
        <p:spPr>
          <a:xfrm>
            <a:off x="4754880" y="11155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B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A0B4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1"/>
          <p:cNvSpPr/>
          <p:nvPr/>
        </p:nvSpPr>
        <p:spPr>
          <a:xfrm>
            <a:off x="4754880" y="1993392"/>
            <a:ext cx="2011680" cy="2651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1"/>
          <p:cNvSpPr/>
          <p:nvPr/>
        </p:nvSpPr>
        <p:spPr>
          <a:xfrm>
            <a:off x="4754880" y="1993392"/>
            <a:ext cx="2011680" cy="64008"/>
          </a:xfrm>
          <a:prstGeom prst="rect">
            <a:avLst/>
          </a:prstGeom>
          <a:solidFill>
            <a:srgbClr val="E8A0B4"/>
          </a:solidFill>
          <a:ln cap="flat" cmpd="sng" w="12700">
            <a:solidFill>
              <a:srgbClr val="E8A0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1"/>
          <p:cNvSpPr/>
          <p:nvPr/>
        </p:nvSpPr>
        <p:spPr>
          <a:xfrm>
            <a:off x="4864608" y="2066544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Scale India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1"/>
          <p:cNvSpPr/>
          <p:nvPr/>
        </p:nvSpPr>
        <p:spPr>
          <a:xfrm>
            <a:off x="4864608" y="24231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A0B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A0B4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100,000 active couples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1"/>
          <p:cNvSpPr/>
          <p:nvPr/>
        </p:nvSpPr>
        <p:spPr>
          <a:xfrm>
            <a:off x="4864608" y="2916936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A0B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A0B4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B2B corporate wellness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1"/>
          <p:cNvSpPr/>
          <p:nvPr/>
        </p:nvSpPr>
        <p:spPr>
          <a:xfrm>
            <a:off x="4864608" y="341071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A0B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A0B4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Voice expression module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1"/>
          <p:cNvSpPr/>
          <p:nvPr/>
        </p:nvSpPr>
        <p:spPr>
          <a:xfrm>
            <a:off x="4864608" y="390448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A0B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A0B4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AI coach beta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1"/>
          <p:cNvSpPr/>
          <p:nvPr/>
        </p:nvSpPr>
        <p:spPr>
          <a:xfrm>
            <a:off x="7406640" y="1572768"/>
            <a:ext cx="329184" cy="329184"/>
          </a:xfrm>
          <a:prstGeom prst="ellipse">
            <a:avLst/>
          </a:prstGeom>
          <a:solidFill>
            <a:srgbClr val="D4870A"/>
          </a:solidFill>
          <a:ln cap="flat" cmpd="sng" w="12700">
            <a:solidFill>
              <a:srgbClr val="D487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1"/>
          <p:cNvSpPr/>
          <p:nvPr/>
        </p:nvSpPr>
        <p:spPr>
          <a:xfrm>
            <a:off x="6903720" y="11155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870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4870A"/>
                </a:solidFill>
                <a:latin typeface="Calibri"/>
                <a:ea typeface="Calibri"/>
                <a:cs typeface="Calibri"/>
                <a:sym typeface="Calibri"/>
              </a:rPr>
              <a:t>2026–2027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1"/>
          <p:cNvSpPr/>
          <p:nvPr/>
        </p:nvSpPr>
        <p:spPr>
          <a:xfrm>
            <a:off x="6903720" y="1993392"/>
            <a:ext cx="2011680" cy="2651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1"/>
          <p:cNvSpPr/>
          <p:nvPr/>
        </p:nvSpPr>
        <p:spPr>
          <a:xfrm>
            <a:off x="6903720" y="1993392"/>
            <a:ext cx="2011680" cy="64008"/>
          </a:xfrm>
          <a:prstGeom prst="rect">
            <a:avLst/>
          </a:prstGeom>
          <a:solidFill>
            <a:srgbClr val="D4870A"/>
          </a:solidFill>
          <a:ln cap="flat" cmpd="sng" w="12700">
            <a:solidFill>
              <a:srgbClr val="D487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1"/>
          <p:cNvSpPr/>
          <p:nvPr/>
        </p:nvSpPr>
        <p:spPr>
          <a:xfrm>
            <a:off x="7013448" y="2066544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Global Expansion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1"/>
          <p:cNvSpPr/>
          <p:nvPr/>
        </p:nvSpPr>
        <p:spPr>
          <a:xfrm>
            <a:off x="7013448" y="24231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870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4870A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NRI market live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1"/>
          <p:cNvSpPr/>
          <p:nvPr/>
        </p:nvSpPr>
        <p:spPr>
          <a:xfrm>
            <a:off x="7013448" y="2916936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870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4870A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SEA pilot (Indonesia, Philippines)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1"/>
          <p:cNvSpPr/>
          <p:nvPr/>
        </p:nvSpPr>
        <p:spPr>
          <a:xfrm>
            <a:off x="7013448" y="341071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870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4870A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Multilingual 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1"/>
          <p:cNvSpPr/>
          <p:nvPr/>
        </p:nvSpPr>
        <p:spPr>
          <a:xfrm>
            <a:off x="7013448" y="390448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870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4870A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0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Series A fundraise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2"/>
          <p:cNvSpPr/>
          <p:nvPr/>
        </p:nvSpPr>
        <p:spPr>
          <a:xfrm>
            <a:off x="320040" y="164592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LDA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BEAF0"/>
          </a:solidFill>
          <a:ln cap="flat" cmpd="sng" w="12700">
            <a:solidFill>
              <a:srgbClr val="FB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2"/>
          <p:cNvSpPr/>
          <p:nvPr/>
        </p:nvSpPr>
        <p:spPr>
          <a:xfrm>
            <a:off x="365760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Let's Date Again  |  Confidential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2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2"/>
          <p:cNvSpPr/>
          <p:nvPr/>
        </p:nvSpPr>
        <p:spPr>
          <a:xfrm>
            <a:off x="411480" y="20116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FINANCIAL PROJECTIONS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2"/>
          <p:cNvSpPr/>
          <p:nvPr/>
        </p:nvSpPr>
        <p:spPr>
          <a:xfrm>
            <a:off x="411480" y="4754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Conservative base case — built on 1% of addressable market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6" name="Google Shape;516;p12"/>
          <p:cNvGraphicFramePr/>
          <p:nvPr/>
        </p:nvGraphicFramePr>
        <p:xfrm>
          <a:off x="411480" y="1051560"/>
          <a:ext cx="5029200" cy="29260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517" name="Google Shape;517;p12"/>
          <p:cNvSpPr/>
          <p:nvPr/>
        </p:nvSpPr>
        <p:spPr>
          <a:xfrm>
            <a:off x="5623560" y="1051560"/>
            <a:ext cx="3108960" cy="420624"/>
          </a:xfrm>
          <a:prstGeom prst="rect">
            <a:avLst/>
          </a:prstGeom>
          <a:solidFill>
            <a:srgbClr val="FBEAF0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2"/>
          <p:cNvSpPr/>
          <p:nvPr/>
        </p:nvSpPr>
        <p:spPr>
          <a:xfrm>
            <a:off x="5715000" y="1078992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Year 1 Revenue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2"/>
          <p:cNvSpPr/>
          <p:nvPr/>
        </p:nvSpPr>
        <p:spPr>
          <a:xfrm>
            <a:off x="7205472" y="1078992"/>
            <a:ext cx="960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₹1.5 Cr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2"/>
          <p:cNvSpPr/>
          <p:nvPr/>
        </p:nvSpPr>
        <p:spPr>
          <a:xfrm>
            <a:off x="5715000" y="1307592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5K couples @ avg ₹3,000/yr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2"/>
          <p:cNvSpPr/>
          <p:nvPr/>
        </p:nvSpPr>
        <p:spPr>
          <a:xfrm>
            <a:off x="5623560" y="1508760"/>
            <a:ext cx="310896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2"/>
          <p:cNvSpPr/>
          <p:nvPr/>
        </p:nvSpPr>
        <p:spPr>
          <a:xfrm>
            <a:off x="5715000" y="1536192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Year 2 Revenue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2"/>
          <p:cNvSpPr/>
          <p:nvPr/>
        </p:nvSpPr>
        <p:spPr>
          <a:xfrm>
            <a:off x="7205472" y="1536192"/>
            <a:ext cx="960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₹7.5 Cr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2"/>
          <p:cNvSpPr/>
          <p:nvPr/>
        </p:nvSpPr>
        <p:spPr>
          <a:xfrm>
            <a:off x="5715000" y="1764792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25K couples; therapist upsell live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2"/>
          <p:cNvSpPr/>
          <p:nvPr/>
        </p:nvSpPr>
        <p:spPr>
          <a:xfrm>
            <a:off x="5623560" y="1965960"/>
            <a:ext cx="3108960" cy="420624"/>
          </a:xfrm>
          <a:prstGeom prst="rect">
            <a:avLst/>
          </a:prstGeom>
          <a:solidFill>
            <a:srgbClr val="FBEAF0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2"/>
          <p:cNvSpPr/>
          <p:nvPr/>
        </p:nvSpPr>
        <p:spPr>
          <a:xfrm>
            <a:off x="5715000" y="1993392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Year 3 Revenue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2"/>
          <p:cNvSpPr/>
          <p:nvPr/>
        </p:nvSpPr>
        <p:spPr>
          <a:xfrm>
            <a:off x="7205472" y="1993392"/>
            <a:ext cx="960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₹24 Cr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2"/>
          <p:cNvSpPr/>
          <p:nvPr/>
        </p:nvSpPr>
        <p:spPr>
          <a:xfrm>
            <a:off x="5715000" y="2221992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80K couples + B2B stream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2"/>
          <p:cNvSpPr/>
          <p:nvPr/>
        </p:nvSpPr>
        <p:spPr>
          <a:xfrm>
            <a:off x="5623560" y="2423160"/>
            <a:ext cx="310896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2"/>
          <p:cNvSpPr/>
          <p:nvPr/>
        </p:nvSpPr>
        <p:spPr>
          <a:xfrm>
            <a:off x="5715000" y="2450592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Year 5 Revenue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2"/>
          <p:cNvSpPr/>
          <p:nvPr/>
        </p:nvSpPr>
        <p:spPr>
          <a:xfrm>
            <a:off x="7205472" y="2450592"/>
            <a:ext cx="960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₹135 Cr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2"/>
          <p:cNvSpPr/>
          <p:nvPr/>
        </p:nvSpPr>
        <p:spPr>
          <a:xfrm>
            <a:off x="5715000" y="2679192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450K couples + global markets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2"/>
          <p:cNvSpPr/>
          <p:nvPr/>
        </p:nvSpPr>
        <p:spPr>
          <a:xfrm>
            <a:off x="5623560" y="2880360"/>
            <a:ext cx="3108960" cy="420624"/>
          </a:xfrm>
          <a:prstGeom prst="rect">
            <a:avLst/>
          </a:prstGeom>
          <a:solidFill>
            <a:srgbClr val="FBEAF0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2"/>
          <p:cNvSpPr/>
          <p:nvPr/>
        </p:nvSpPr>
        <p:spPr>
          <a:xfrm>
            <a:off x="5715000" y="2907792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Break-even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2"/>
          <p:cNvSpPr/>
          <p:nvPr/>
        </p:nvSpPr>
        <p:spPr>
          <a:xfrm>
            <a:off x="7205472" y="2907792"/>
            <a:ext cx="960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Month 20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2"/>
          <p:cNvSpPr/>
          <p:nvPr/>
        </p:nvSpPr>
        <p:spPr>
          <a:xfrm>
            <a:off x="5715000" y="3136392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18–24 month path per model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2"/>
          <p:cNvSpPr/>
          <p:nvPr/>
        </p:nvSpPr>
        <p:spPr>
          <a:xfrm>
            <a:off x="5623560" y="3337560"/>
            <a:ext cx="310896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2"/>
          <p:cNvSpPr/>
          <p:nvPr/>
        </p:nvSpPr>
        <p:spPr>
          <a:xfrm>
            <a:off x="5715000" y="3364992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LTV / CAC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2"/>
          <p:cNvSpPr/>
          <p:nvPr/>
        </p:nvSpPr>
        <p:spPr>
          <a:xfrm>
            <a:off x="7205472" y="3364992"/>
            <a:ext cx="960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8x+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2"/>
          <p:cNvSpPr/>
          <p:nvPr/>
        </p:nvSpPr>
        <p:spPr>
          <a:xfrm>
            <a:off x="5715000" y="3593592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Emotional dependency = high retention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2"/>
          <p:cNvSpPr/>
          <p:nvPr/>
        </p:nvSpPr>
        <p:spPr>
          <a:xfrm>
            <a:off x="5623560" y="3794760"/>
            <a:ext cx="3108960" cy="420624"/>
          </a:xfrm>
          <a:prstGeom prst="rect">
            <a:avLst/>
          </a:prstGeom>
          <a:solidFill>
            <a:srgbClr val="FBEAF0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2"/>
          <p:cNvSpPr/>
          <p:nvPr/>
        </p:nvSpPr>
        <p:spPr>
          <a:xfrm>
            <a:off x="5715000" y="3822192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Gross margin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2"/>
          <p:cNvSpPr/>
          <p:nvPr/>
        </p:nvSpPr>
        <p:spPr>
          <a:xfrm>
            <a:off x="7205472" y="3822192"/>
            <a:ext cx="960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72%+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2"/>
          <p:cNvSpPr/>
          <p:nvPr/>
        </p:nvSpPr>
        <p:spPr>
          <a:xfrm>
            <a:off x="5715000" y="4050792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SaaS model, AI infra at scale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2"/>
          <p:cNvSpPr/>
          <p:nvPr/>
        </p:nvSpPr>
        <p:spPr>
          <a:xfrm>
            <a:off x="411480" y="4069080"/>
            <a:ext cx="8321040" cy="475488"/>
          </a:xfrm>
          <a:prstGeom prst="rect">
            <a:avLst/>
          </a:prstGeom>
          <a:solidFill>
            <a:srgbClr val="FBEAF0"/>
          </a:solidFill>
          <a:ln cap="flat" cmpd="sng" w="12700">
            <a:solidFill>
              <a:srgbClr val="FB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2"/>
          <p:cNvSpPr/>
          <p:nvPr/>
        </p:nvSpPr>
        <p:spPr>
          <a:xfrm>
            <a:off x="548640" y="411480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Revenue streams: Subscriptions (primary) + Expert marketplace + Corporate wellness B2B + Global licensing. High LTV due to emotional stickiness.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8F5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3"/>
          <p:cNvSpPr/>
          <p:nvPr/>
        </p:nvSpPr>
        <p:spPr>
          <a:xfrm>
            <a:off x="320040" y="164592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LDA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BEAF0"/>
          </a:solidFill>
          <a:ln cap="flat" cmpd="sng" w="12700">
            <a:solidFill>
              <a:srgbClr val="FB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3"/>
          <p:cNvSpPr/>
          <p:nvPr/>
        </p:nvSpPr>
        <p:spPr>
          <a:xfrm>
            <a:off x="365760" y="490118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Let's Date Again  |  Confidential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3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3"/>
          <p:cNvSpPr/>
          <p:nvPr/>
        </p:nvSpPr>
        <p:spPr>
          <a:xfrm>
            <a:off x="411480" y="20116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STRATEGIC ADDITIONS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3"/>
          <p:cNvSpPr/>
          <p:nvPr/>
        </p:nvSpPr>
        <p:spPr>
          <a:xfrm>
            <a:off x="411480" y="4754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What we're doing that most apps miss entirely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3"/>
          <p:cNvSpPr/>
          <p:nvPr/>
        </p:nvSpPr>
        <p:spPr>
          <a:xfrm>
            <a:off x="411480" y="1078992"/>
            <a:ext cx="416052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3"/>
          <p:cNvSpPr/>
          <p:nvPr/>
        </p:nvSpPr>
        <p:spPr>
          <a:xfrm>
            <a:off x="411480" y="1078992"/>
            <a:ext cx="64008" cy="114300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3"/>
          <p:cNvSpPr/>
          <p:nvPr/>
        </p:nvSpPr>
        <p:spPr>
          <a:xfrm>
            <a:off x="566928" y="1143000"/>
            <a:ext cx="4389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🛡️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3"/>
          <p:cNvSpPr/>
          <p:nvPr/>
        </p:nvSpPr>
        <p:spPr>
          <a:xfrm>
            <a:off x="566928" y="1481328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Pre-marital onboarding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3"/>
          <p:cNvSpPr/>
          <p:nvPr/>
        </p:nvSpPr>
        <p:spPr>
          <a:xfrm>
            <a:off x="566928" y="1746504"/>
            <a:ext cx="3886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Matrimony platforms introduce us to couples 3–6 months before the wedding. We build the habit before they even move in together. Cheapest CAC, highest LTV.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3"/>
          <p:cNvSpPr/>
          <p:nvPr/>
        </p:nvSpPr>
        <p:spPr>
          <a:xfrm>
            <a:off x="4754880" y="1078992"/>
            <a:ext cx="416052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3"/>
          <p:cNvSpPr/>
          <p:nvPr/>
        </p:nvSpPr>
        <p:spPr>
          <a:xfrm>
            <a:off x="4754880" y="1078992"/>
            <a:ext cx="64008" cy="114300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3"/>
          <p:cNvSpPr/>
          <p:nvPr/>
        </p:nvSpPr>
        <p:spPr>
          <a:xfrm>
            <a:off x="4910328" y="1143000"/>
            <a:ext cx="4389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👶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3"/>
          <p:cNvSpPr/>
          <p:nvPr/>
        </p:nvSpPr>
        <p:spPr>
          <a:xfrm>
            <a:off x="4910328" y="1481328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Family mode (post-baby)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3"/>
          <p:cNvSpPr/>
          <p:nvPr/>
        </p:nvSpPr>
        <p:spPr>
          <a:xfrm>
            <a:off x="4910328" y="1746504"/>
            <a:ext cx="3886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Couples face greatest relational strain after their first child. A 'new parent mode' with co-parenting prompts and intimacy rebuilding tools captures this critical cohort.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3"/>
          <p:cNvSpPr/>
          <p:nvPr/>
        </p:nvSpPr>
        <p:spPr>
          <a:xfrm>
            <a:off x="411480" y="2340864"/>
            <a:ext cx="416052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3"/>
          <p:cNvSpPr/>
          <p:nvPr/>
        </p:nvSpPr>
        <p:spPr>
          <a:xfrm>
            <a:off x="411480" y="2340864"/>
            <a:ext cx="64008" cy="114300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3"/>
          <p:cNvSpPr/>
          <p:nvPr/>
        </p:nvSpPr>
        <p:spPr>
          <a:xfrm>
            <a:off x="566928" y="2404872"/>
            <a:ext cx="4389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📣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3"/>
          <p:cNvSpPr/>
          <p:nvPr/>
        </p:nvSpPr>
        <p:spPr>
          <a:xfrm>
            <a:off x="566928" y="274320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Community &amp; social proof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3"/>
          <p:cNvSpPr/>
          <p:nvPr/>
        </p:nvSpPr>
        <p:spPr>
          <a:xfrm>
            <a:off x="566928" y="3008376"/>
            <a:ext cx="3886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'This couple used LDA for 90 days' — anonymised relationship improvement stories build massive organic trust. Relationship journeys are the new fitness journeys.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3"/>
          <p:cNvSpPr/>
          <p:nvPr/>
        </p:nvSpPr>
        <p:spPr>
          <a:xfrm>
            <a:off x="4754880" y="2340864"/>
            <a:ext cx="416052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3"/>
          <p:cNvSpPr/>
          <p:nvPr/>
        </p:nvSpPr>
        <p:spPr>
          <a:xfrm>
            <a:off x="4754880" y="2340864"/>
            <a:ext cx="64008" cy="114300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3"/>
          <p:cNvSpPr/>
          <p:nvPr/>
        </p:nvSpPr>
        <p:spPr>
          <a:xfrm>
            <a:off x="4910328" y="2404872"/>
            <a:ext cx="4389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3"/>
          <p:cNvSpPr/>
          <p:nvPr/>
        </p:nvSpPr>
        <p:spPr>
          <a:xfrm>
            <a:off x="4910328" y="274320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Gift subscriptions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3"/>
          <p:cNvSpPr/>
          <p:nvPr/>
        </p:nvSpPr>
        <p:spPr>
          <a:xfrm>
            <a:off x="4910328" y="3008376"/>
            <a:ext cx="3886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Parents gift subscriptions to newly married children. Friends gift to newlyweds. Wedding registries include app memberships. Gifting = viral, zero-marginal-cost distribution.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3"/>
          <p:cNvSpPr/>
          <p:nvPr/>
        </p:nvSpPr>
        <p:spPr>
          <a:xfrm>
            <a:off x="411480" y="3602736"/>
            <a:ext cx="416052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3"/>
          <p:cNvSpPr/>
          <p:nvPr/>
        </p:nvSpPr>
        <p:spPr>
          <a:xfrm>
            <a:off x="411480" y="3602736"/>
            <a:ext cx="64008" cy="114300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3"/>
          <p:cNvSpPr/>
          <p:nvPr/>
        </p:nvSpPr>
        <p:spPr>
          <a:xfrm>
            <a:off x="566928" y="3666744"/>
            <a:ext cx="4389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🔬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3"/>
          <p:cNvSpPr/>
          <p:nvPr/>
        </p:nvSpPr>
        <p:spPr>
          <a:xfrm>
            <a:off x="566928" y="4005072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Relationship health data (de-identified)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3"/>
          <p:cNvSpPr/>
          <p:nvPr/>
        </p:nvSpPr>
        <p:spPr>
          <a:xfrm>
            <a:off x="566928" y="4270248"/>
            <a:ext cx="3886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Aggregate anonymised data on communication patterns, conflict triggers, and resolution paths is a research gold mine. Academic + insurance partnerships become a future B2B revenue stream.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3"/>
          <p:cNvSpPr/>
          <p:nvPr/>
        </p:nvSpPr>
        <p:spPr>
          <a:xfrm>
            <a:off x="4754880" y="3602736"/>
            <a:ext cx="416052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3"/>
          <p:cNvSpPr/>
          <p:nvPr/>
        </p:nvSpPr>
        <p:spPr>
          <a:xfrm>
            <a:off x="4754880" y="3602736"/>
            <a:ext cx="64008" cy="1143000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3"/>
          <p:cNvSpPr/>
          <p:nvPr/>
        </p:nvSpPr>
        <p:spPr>
          <a:xfrm>
            <a:off x="4910328" y="3666744"/>
            <a:ext cx="4389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🏢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3"/>
          <p:cNvSpPr/>
          <p:nvPr/>
        </p:nvSpPr>
        <p:spPr>
          <a:xfrm>
            <a:off x="4910328" y="4005072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Corporate EAP integration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3"/>
          <p:cNvSpPr/>
          <p:nvPr/>
        </p:nvSpPr>
        <p:spPr>
          <a:xfrm>
            <a:off x="4910328" y="4270248"/>
            <a:ext cx="3886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Employee Assistance Programs in India are underpenetrated. Relationship stress is the #1 cause of workplace burnout. HR buyers are looking for solutions — we're the first mover.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4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44569"/>
          </a:solidFill>
          <a:ln cap="flat" cmpd="sng" w="1270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4"/>
          <p:cNvSpPr/>
          <p:nvPr/>
        </p:nvSpPr>
        <p:spPr>
          <a:xfrm>
            <a:off x="-731520" y="2926080"/>
            <a:ext cx="3657600" cy="3657600"/>
          </a:xfrm>
          <a:prstGeom prst="ellipse">
            <a:avLst/>
          </a:prstGeom>
          <a:solidFill>
            <a:srgbClr val="C44569">
              <a:alpha val="12156"/>
            </a:srgbClr>
          </a:solidFill>
          <a:ln cap="flat" cmpd="sng" w="12700">
            <a:solidFill>
              <a:srgbClr val="C44569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4"/>
          <p:cNvSpPr/>
          <p:nvPr/>
        </p:nvSpPr>
        <p:spPr>
          <a:xfrm>
            <a:off x="7772400" y="-731520"/>
            <a:ext cx="2743200" cy="2743200"/>
          </a:xfrm>
          <a:prstGeom prst="ellipse">
            <a:avLst/>
          </a:prstGeom>
          <a:solidFill>
            <a:srgbClr val="E8A0B4">
              <a:alpha val="12156"/>
            </a:srgbClr>
          </a:solidFill>
          <a:ln cap="flat" cmpd="sng" w="12700">
            <a:solidFill>
              <a:srgbClr val="E8A0B4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4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44569"/>
                </a:solidFill>
                <a:latin typeface="Calibri"/>
                <a:ea typeface="Calibri"/>
                <a:cs typeface="Calibri"/>
                <a:sym typeface="Calibri"/>
              </a:rPr>
              <a:t>THE ASK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4"/>
          <p:cNvSpPr/>
          <p:nvPr/>
        </p:nvSpPr>
        <p:spPr>
          <a:xfrm>
            <a:off x="457200" y="54864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Seed Round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4"/>
          <p:cNvSpPr/>
          <p:nvPr/>
        </p:nvSpPr>
        <p:spPr>
          <a:xfrm>
            <a:off x="457200" y="1261872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B4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E8A0B4"/>
                </a:solidFill>
                <a:latin typeface="Calibri"/>
                <a:ea typeface="Calibri"/>
                <a:cs typeface="Calibri"/>
                <a:sym typeface="Calibri"/>
              </a:rPr>
              <a:t>₹3 Crore – ₹5 Crore (US$360K – US$600K)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4"/>
          <p:cNvSpPr/>
          <p:nvPr/>
        </p:nvSpPr>
        <p:spPr>
          <a:xfrm>
            <a:off x="457200" y="1874520"/>
            <a:ext cx="2011680" cy="150876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12700">
            <a:solidFill>
              <a:srgbClr val="C4456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4"/>
          <p:cNvSpPr/>
          <p:nvPr/>
        </p:nvSpPr>
        <p:spPr>
          <a:xfrm>
            <a:off x="457200" y="1938528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40%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4"/>
          <p:cNvSpPr/>
          <p:nvPr/>
        </p:nvSpPr>
        <p:spPr>
          <a:xfrm>
            <a:off x="548640" y="251460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 &amp; Engineering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4"/>
          <p:cNvSpPr/>
          <p:nvPr/>
        </p:nvSpPr>
        <p:spPr>
          <a:xfrm>
            <a:off x="548640" y="2852928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App development, AI integration, backend infra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4"/>
          <p:cNvSpPr/>
          <p:nvPr/>
        </p:nvSpPr>
        <p:spPr>
          <a:xfrm>
            <a:off x="2633472" y="1874520"/>
            <a:ext cx="2011680" cy="150876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12700">
            <a:solidFill>
              <a:srgbClr val="C4456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4"/>
          <p:cNvSpPr/>
          <p:nvPr/>
        </p:nvSpPr>
        <p:spPr>
          <a:xfrm>
            <a:off x="2633472" y="1938528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25%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4"/>
          <p:cNvSpPr/>
          <p:nvPr/>
        </p:nvSpPr>
        <p:spPr>
          <a:xfrm>
            <a:off x="2724912" y="251460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Marketing &amp; GTM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4"/>
          <p:cNvSpPr/>
          <p:nvPr/>
        </p:nvSpPr>
        <p:spPr>
          <a:xfrm>
            <a:off x="2724912" y="2852928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Content, influencers, beta program, PR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4"/>
          <p:cNvSpPr/>
          <p:nvPr/>
        </p:nvSpPr>
        <p:spPr>
          <a:xfrm>
            <a:off x="4809744" y="1874520"/>
            <a:ext cx="2011680" cy="150876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12700">
            <a:solidFill>
              <a:srgbClr val="C4456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4"/>
          <p:cNvSpPr/>
          <p:nvPr/>
        </p:nvSpPr>
        <p:spPr>
          <a:xfrm>
            <a:off x="4809744" y="1938528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20%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4"/>
          <p:cNvSpPr/>
          <p:nvPr/>
        </p:nvSpPr>
        <p:spPr>
          <a:xfrm>
            <a:off x="4901184" y="251460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4"/>
          <p:cNvSpPr/>
          <p:nvPr/>
        </p:nvSpPr>
        <p:spPr>
          <a:xfrm>
            <a:off x="4901184" y="2852928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CTO hire, 2 engineers, 1 product, 1 content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4"/>
          <p:cNvSpPr/>
          <p:nvPr/>
        </p:nvSpPr>
        <p:spPr>
          <a:xfrm>
            <a:off x="6986016" y="1874520"/>
            <a:ext cx="2011680" cy="150876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12700">
            <a:solidFill>
              <a:srgbClr val="C4456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4"/>
          <p:cNvSpPr/>
          <p:nvPr/>
        </p:nvSpPr>
        <p:spPr>
          <a:xfrm>
            <a:off x="6986016" y="1938528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4569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C44569"/>
                </a:solidFill>
                <a:latin typeface="Georgia"/>
                <a:ea typeface="Georgia"/>
                <a:cs typeface="Georgia"/>
                <a:sym typeface="Georgia"/>
              </a:rPr>
              <a:t>15%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4"/>
          <p:cNvSpPr/>
          <p:nvPr/>
        </p:nvSpPr>
        <p:spPr>
          <a:xfrm>
            <a:off x="7077456" y="251460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&amp; Ops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4"/>
          <p:cNvSpPr/>
          <p:nvPr/>
        </p:nvSpPr>
        <p:spPr>
          <a:xfrm>
            <a:off x="7077456" y="2852928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8A9A"/>
                </a:solidFill>
                <a:latin typeface="Calibri"/>
                <a:ea typeface="Calibri"/>
                <a:cs typeface="Calibri"/>
                <a:sym typeface="Calibri"/>
              </a:rPr>
              <a:t>Therapy partnerships, market research, legal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4"/>
          <p:cNvSpPr/>
          <p:nvPr/>
        </p:nvSpPr>
        <p:spPr>
          <a:xfrm>
            <a:off x="457200" y="354787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18-month milestones post-funding: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4"/>
          <p:cNvSpPr/>
          <p:nvPr/>
        </p:nvSpPr>
        <p:spPr>
          <a:xfrm>
            <a:off x="457200" y="382219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B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A0B4"/>
                </a:solidFill>
                <a:latin typeface="Calibri"/>
                <a:ea typeface="Calibri"/>
                <a:cs typeface="Calibri"/>
                <a:sym typeface="Calibri"/>
              </a:rPr>
              <a:t>1. 50,000 registered couples    2. 5,000 paying subscribers    3. 3 therapist partnerships    4. NRI market beta live    5. Series A raise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7" name="Google Shape;617;p14"/>
          <p:cNvCxnSpPr/>
          <p:nvPr/>
        </p:nvCxnSpPr>
        <p:spPr>
          <a:xfrm>
            <a:off x="457200" y="4251960"/>
            <a:ext cx="4572000" cy="0"/>
          </a:xfrm>
          <a:prstGeom prst="straightConnector1">
            <a:avLst/>
          </a:prstGeom>
          <a:noFill/>
          <a:ln cap="flat" cmpd="sng" w="10150">
            <a:solidFill>
              <a:srgbClr val="C445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8" name="Google Shape;618;p14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0" i="1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Let's build the daily ritual that saves Indian marriages — and scales to the world.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2026-03-30T14:55:27Z</dcterms:created>
  <dc:creator>PptxGenJS</dc:creator>
</cp:coreProperties>
</file>